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fifteen-minute read, not a lecture. Everyone has the link and can go through it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in this room is being blamed by these numbers. They are what happens when the record is in people's heads.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right-hand column is from the V Germinator Pro trial that actually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people only adopt one habit from this system, it should be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screen exists because the audit found the system was changing state — opening investigations, passing due dates — without ever telling the person who owned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2B1C"/>
        </a:solidFill>
      </p:bgPr>
    </p:bg>
    <p:spTree>
      <p:nvGrpSpPr>
        <p:cNvPr id="1" name=""/>
        <p:cNvGrpSpPr/>
        <p:nvPr/>
      </p:nvGrpSpPr>
      <p:grpSpPr>
        <a:xfrm>
          <a:off x="0" y="0"/>
          <a:ext cx="0" cy="0"/>
          <a:chOff x="0" y="0"/>
          <a:chExt cx="0" cy="0"/>
        </a:xfrm>
      </p:grpSpPr>
      <p:sp>
        <p:nvSpPr>
          <p:cNvPr id="2" name="Text 0"/>
          <p:cNvSpPr txBox="1"/>
          <p:nvPr/>
        </p:nvSpPr>
        <p:spPr>
          <a:xfrm>
            <a:off x="658368" y="1371600"/>
            <a:ext cx="8229600" cy="274320"/>
          </a:xfrm>
          <a:prstGeom prst="rect">
            <a:avLst/>
          </a:prstGeom>
          <a:noFill/>
          <a:ln/>
        </p:spPr>
        <p:txBody>
          <a:bodyPr wrap="square" lIns="0" tIns="0" rIns="0" bIns="0" rtlCol="0" anchor="ctr"/>
          <a:lstStyle/>
          <a:p>
            <a:pPr indent="0" marL="0">
              <a:buNone/>
            </a:pPr>
            <a:r>
              <a:rPr lang="en-US" sz="1200" b="1" spc="300" kern="0" dirty="0">
                <a:solidFill>
                  <a:srgbClr val="7FBFA0"/>
                </a:solidFill>
                <a:latin typeface="Calibri" pitchFamily="34" charset="0"/>
                <a:ea typeface="Calibri" pitchFamily="34" charset="-122"/>
                <a:cs typeface="Calibri" pitchFamily="34" charset="-120"/>
              </a:rPr>
              <a:t>VITAL AGRI NUTRIENTS</a:t>
            </a:r>
            <a:endParaRPr lang="en-US" sz="1200" dirty="0"/>
          </a:p>
        </p:txBody>
      </p:sp>
      <p:sp>
        <p:nvSpPr>
          <p:cNvPr id="3" name="Text 1"/>
          <p:cNvSpPr txBox="1"/>
          <p:nvPr/>
        </p:nvSpPr>
        <p:spPr>
          <a:xfrm>
            <a:off x="658368" y="1783080"/>
            <a:ext cx="8229600" cy="2011680"/>
          </a:xfrm>
          <a:prstGeom prst="rect">
            <a:avLst/>
          </a:prstGeom>
          <a:noFill/>
          <a:ln/>
        </p:spPr>
        <p:txBody>
          <a:bodyPr wrap="square" lIns="0" tIns="0" rIns="0" bIns="0" rtlCol="0" anchor="ctr"/>
          <a:lstStyle/>
          <a:p>
            <a:pPr indent="0" marL="0">
              <a:lnSpc>
                <a:spcPts val="5800"/>
              </a:lnSpc>
              <a:buNone/>
            </a:pPr>
            <a:r>
              <a:rPr lang="en-US" sz="5600" b="1" dirty="0">
                <a:solidFill>
                  <a:srgbClr val="FFFFFF"/>
                </a:solidFill>
                <a:latin typeface="Cambria" pitchFamily="34" charset="0"/>
                <a:ea typeface="Cambria" pitchFamily="34" charset="-122"/>
                <a:cs typeface="Cambria" pitchFamily="34" charset="-120"/>
              </a:rPr>
              <a:t>Product</a:t>
            </a:r>
            <a:endParaRPr lang="en-US" sz="5600" dirty="0"/>
          </a:p>
          <a:p>
            <a:pPr indent="0" marL="0">
              <a:lnSpc>
                <a:spcPts val="5800"/>
              </a:lnSpc>
              <a:buNone/>
            </a:pPr>
            <a:r>
              <a:rPr lang="en-US" sz="5600" b="1" dirty="0">
                <a:solidFill>
                  <a:srgbClr val="FFFFFF"/>
                </a:solidFill>
                <a:latin typeface="Cambria" pitchFamily="34" charset="0"/>
                <a:ea typeface="Cambria" pitchFamily="34" charset="-122"/>
                <a:cs typeface="Cambria" pitchFamily="34" charset="-120"/>
              </a:rPr>
              <a:t>Development</a:t>
            </a:r>
            <a:endParaRPr lang="en-US" sz="5600" dirty="0"/>
          </a:p>
        </p:txBody>
      </p:sp>
      <p:sp>
        <p:nvSpPr>
          <p:cNvPr id="4" name="Text 2"/>
          <p:cNvSpPr txBox="1"/>
          <p:nvPr/>
        </p:nvSpPr>
        <p:spPr>
          <a:xfrm>
            <a:off x="658368" y="3886200"/>
            <a:ext cx="8229600" cy="457200"/>
          </a:xfrm>
          <a:prstGeom prst="rect">
            <a:avLst/>
          </a:prstGeom>
          <a:noFill/>
          <a:ln/>
        </p:spPr>
        <p:txBody>
          <a:bodyPr wrap="square" lIns="0" tIns="0" rIns="0" bIns="0" rtlCol="0" anchor="ctr"/>
          <a:lstStyle/>
          <a:p>
            <a:pPr indent="0" marL="0">
              <a:buNone/>
            </a:pPr>
            <a:r>
              <a:rPr lang="en-US" sz="2000" dirty="0">
                <a:solidFill>
                  <a:srgbClr val="C7DBCF"/>
                </a:solidFill>
                <a:latin typeface="Calibri" pitchFamily="34" charset="0"/>
                <a:ea typeface="Calibri" pitchFamily="34" charset="-122"/>
                <a:cs typeface="Calibri" pitchFamily="34" charset="-120"/>
              </a:rPr>
              <a:t>How we are going to remember what we tried.</a:t>
            </a:r>
            <a:endParaRPr lang="en-US" sz="2000" dirty="0"/>
          </a:p>
        </p:txBody>
      </p:sp>
      <p:sp>
        <p:nvSpPr>
          <p:cNvPr id="5" name="Shape 3"/>
          <p:cNvSpPr/>
          <p:nvPr/>
        </p:nvSpPr>
        <p:spPr>
          <a:xfrm>
            <a:off x="658368" y="4709160"/>
            <a:ext cx="1005840" cy="32004"/>
          </a:xfrm>
          <a:prstGeom prst="rect">
            <a:avLst/>
          </a:prstGeom>
          <a:solidFill>
            <a:srgbClr val="A9701A"/>
          </a:solidFill>
          <a:ln w="12700">
            <a:solidFill>
              <a:srgbClr val="A9701A"/>
            </a:solidFill>
            <a:prstDash val="solid"/>
          </a:ln>
        </p:spPr>
      </p:sp>
      <p:sp>
        <p:nvSpPr>
          <p:cNvPr id="6" name="Text 4"/>
          <p:cNvSpPr txBox="1"/>
          <p:nvPr/>
        </p:nvSpPr>
        <p:spPr>
          <a:xfrm>
            <a:off x="658368" y="4956048"/>
            <a:ext cx="8229600" cy="274320"/>
          </a:xfrm>
          <a:prstGeom prst="rect">
            <a:avLst/>
          </a:prstGeom>
          <a:noFill/>
          <a:ln/>
        </p:spPr>
        <p:txBody>
          <a:bodyPr wrap="square" lIns="0" tIns="0" rIns="0" bIns="0" rtlCol="0" anchor="ctr"/>
          <a:lstStyle/>
          <a:p>
            <a:pPr indent="0" marL="0">
              <a:buNone/>
            </a:pPr>
            <a:r>
              <a:rPr lang="en-US" sz="1200" spc="100" kern="0" dirty="0">
                <a:solidFill>
                  <a:srgbClr val="8AA394"/>
                </a:solidFill>
                <a:latin typeface="Calibri" pitchFamily="34" charset="0"/>
                <a:ea typeface="Calibri" pitchFamily="34" charset="-122"/>
                <a:cs typeface="Calibri" pitchFamily="34" charset="-120"/>
              </a:rPr>
              <a:t>September 2026  ·  First eight users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WHY</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We make a hundred samples a month</a:t>
            </a:r>
            <a:endParaRPr lang="en-US" sz="3800" dirty="0"/>
          </a:p>
          <a:p>
            <a:pPr algn="l" indent="0" marL="0">
              <a:buNone/>
            </a:pPr>
            <a:r>
              <a:rPr lang="en-US" sz="3800" b="1" dirty="0">
                <a:solidFill>
                  <a:srgbClr val="17201C"/>
                </a:solidFill>
                <a:latin typeface="Cambria" pitchFamily="34" charset="0"/>
                <a:ea typeface="Cambria" pitchFamily="34" charset="-122"/>
                <a:cs typeface="Cambria" pitchFamily="34" charset="-120"/>
              </a:rPr>
              <a:t>and remember almost none of it</a:t>
            </a:r>
            <a:endParaRPr lang="en-US" sz="3800" dirty="0"/>
          </a:p>
        </p:txBody>
      </p:sp>
      <p:sp>
        <p:nvSpPr>
          <p:cNvPr id="4" name="Text 2"/>
          <p:cNvSpPr txBox="1"/>
          <p:nvPr/>
        </p:nvSpPr>
        <p:spPr>
          <a:xfrm>
            <a:off x="658368" y="1965960"/>
            <a:ext cx="10844784" cy="548640"/>
          </a:xfrm>
          <a:prstGeom prst="rect">
            <a:avLst/>
          </a:prstGeom>
          <a:noFill/>
          <a:ln/>
        </p:spPr>
        <p:txBody>
          <a:bodyPr wrap="square" lIns="0" tIns="0" rIns="0" bIns="0" rtlCol="0" anchor="ctr"/>
          <a:lstStyle/>
          <a:p>
            <a:pPr indent="0" marL="0">
              <a:buNone/>
            </a:pPr>
            <a:r>
              <a:rPr lang="en-US" sz="1550" dirty="0">
                <a:solidFill>
                  <a:srgbClr val="48544E"/>
                </a:solidFill>
                <a:latin typeface="Calibri" pitchFamily="34" charset="0"/>
                <a:ea typeface="Calibri" pitchFamily="34" charset="-122"/>
                <a:cs typeface="Calibri" pitchFamily="34" charset="-120"/>
              </a:rPr>
              <a:t>Roughly half of those samples are genuine development attempts. Over five years that work has produced one patent and not more than two breakthrough products.</a:t>
            </a:r>
            <a:endParaRPr lang="en-US" sz="1550" dirty="0"/>
          </a:p>
        </p:txBody>
      </p:sp>
      <p:sp>
        <p:nvSpPr>
          <p:cNvPr id="5" name="Shape 3"/>
          <p:cNvSpPr/>
          <p:nvPr/>
        </p:nvSpPr>
        <p:spPr>
          <a:xfrm>
            <a:off x="658368" y="3017520"/>
            <a:ext cx="1949501" cy="2103120"/>
          </a:xfrm>
          <a:prstGeom prst="roundRect">
            <a:avLst>
              <a:gd name="adj" fmla="val 2814"/>
            </a:avLst>
          </a:prstGeom>
          <a:solidFill>
            <a:srgbClr val="F3F6F4"/>
          </a:solidFill>
          <a:ln w="9525">
            <a:solidFill>
              <a:srgbClr val="DCE4DF"/>
            </a:solidFill>
            <a:prstDash val="solid"/>
          </a:ln>
        </p:spPr>
      </p:sp>
      <p:sp>
        <p:nvSpPr>
          <p:cNvPr id="6" name="Text 4"/>
          <p:cNvSpPr txBox="1"/>
          <p:nvPr/>
        </p:nvSpPr>
        <p:spPr>
          <a:xfrm>
            <a:off x="859536" y="3246120"/>
            <a:ext cx="1547165" cy="777240"/>
          </a:xfrm>
          <a:prstGeom prst="rect">
            <a:avLst/>
          </a:prstGeom>
          <a:noFill/>
          <a:ln/>
        </p:spPr>
        <p:txBody>
          <a:bodyPr wrap="square" lIns="0" tIns="0" rIns="0" bIns="0" rtlCol="0" anchor="ctr"/>
          <a:lstStyle/>
          <a:p>
            <a:pPr algn="l" indent="0" marL="0">
              <a:buNone/>
            </a:pPr>
            <a:r>
              <a:rPr lang="en-US" sz="4000" b="1" dirty="0">
                <a:solidFill>
                  <a:srgbClr val="1E6B4A"/>
                </a:solidFill>
                <a:latin typeface="Cambria" pitchFamily="34" charset="0"/>
                <a:ea typeface="Cambria" pitchFamily="34" charset="-122"/>
                <a:cs typeface="Cambria" pitchFamily="34" charset="-120"/>
              </a:rPr>
              <a:t>~100</a:t>
            </a:r>
            <a:endParaRPr lang="en-US" sz="4000" dirty="0"/>
          </a:p>
        </p:txBody>
      </p:sp>
      <p:sp>
        <p:nvSpPr>
          <p:cNvPr id="7" name="Text 5"/>
          <p:cNvSpPr txBox="1"/>
          <p:nvPr/>
        </p:nvSpPr>
        <p:spPr>
          <a:xfrm>
            <a:off x="859536" y="4096512"/>
            <a:ext cx="1547165" cy="868680"/>
          </a:xfrm>
          <a:prstGeom prst="rect">
            <a:avLst/>
          </a:prstGeom>
          <a:noFill/>
          <a:ln/>
        </p:spPr>
        <p:txBody>
          <a:bodyPr wrap="square" lIns="0" tIns="0" rIns="0" bIns="0" rtlCol="0" anchor="t"/>
          <a:lstStyle/>
          <a:p>
            <a:pPr algn="l" indent="0" marL="0">
              <a:buNone/>
            </a:pPr>
            <a:r>
              <a:rPr lang="en-US" sz="1250" dirty="0">
                <a:solidFill>
                  <a:srgbClr val="48544E"/>
                </a:solidFill>
                <a:latin typeface="Calibri" pitchFamily="34" charset="0"/>
                <a:ea typeface="Calibri" pitchFamily="34" charset="-122"/>
                <a:cs typeface="Calibri" pitchFamily="34" charset="-120"/>
              </a:rPr>
              <a:t>samples a month</a:t>
            </a:r>
            <a:endParaRPr lang="en-US" sz="1250" dirty="0"/>
          </a:p>
        </p:txBody>
      </p:sp>
      <p:sp>
        <p:nvSpPr>
          <p:cNvPr id="8" name="Shape 6"/>
          <p:cNvSpPr/>
          <p:nvPr/>
        </p:nvSpPr>
        <p:spPr>
          <a:xfrm>
            <a:off x="2882189" y="3017520"/>
            <a:ext cx="1949501" cy="2103120"/>
          </a:xfrm>
          <a:prstGeom prst="roundRect">
            <a:avLst>
              <a:gd name="adj" fmla="val 2814"/>
            </a:avLst>
          </a:prstGeom>
          <a:solidFill>
            <a:srgbClr val="F3F6F4"/>
          </a:solidFill>
          <a:ln w="9525">
            <a:solidFill>
              <a:srgbClr val="DCE4DF"/>
            </a:solidFill>
            <a:prstDash val="solid"/>
          </a:ln>
        </p:spPr>
      </p:sp>
      <p:sp>
        <p:nvSpPr>
          <p:cNvPr id="9" name="Text 7"/>
          <p:cNvSpPr txBox="1"/>
          <p:nvPr/>
        </p:nvSpPr>
        <p:spPr>
          <a:xfrm>
            <a:off x="3083357" y="3246120"/>
            <a:ext cx="1547165" cy="777240"/>
          </a:xfrm>
          <a:prstGeom prst="rect">
            <a:avLst/>
          </a:prstGeom>
          <a:noFill/>
          <a:ln/>
        </p:spPr>
        <p:txBody>
          <a:bodyPr wrap="square" lIns="0" tIns="0" rIns="0" bIns="0" rtlCol="0" anchor="ctr"/>
          <a:lstStyle/>
          <a:p>
            <a:pPr algn="l" indent="0" marL="0">
              <a:buNone/>
            </a:pPr>
            <a:r>
              <a:rPr lang="en-US" sz="4000" b="1" dirty="0">
                <a:solidFill>
                  <a:srgbClr val="1E6B4A"/>
                </a:solidFill>
                <a:latin typeface="Cambria" pitchFamily="34" charset="0"/>
                <a:ea typeface="Cambria" pitchFamily="34" charset="-122"/>
                <a:cs typeface="Cambria" pitchFamily="34" charset="-120"/>
              </a:rPr>
              <a:t>~50</a:t>
            </a:r>
            <a:endParaRPr lang="en-US" sz="4000" dirty="0"/>
          </a:p>
        </p:txBody>
      </p:sp>
      <p:sp>
        <p:nvSpPr>
          <p:cNvPr id="10" name="Text 8"/>
          <p:cNvSpPr txBox="1"/>
          <p:nvPr/>
        </p:nvSpPr>
        <p:spPr>
          <a:xfrm>
            <a:off x="3083357" y="4096512"/>
            <a:ext cx="1547165" cy="868680"/>
          </a:xfrm>
          <a:prstGeom prst="rect">
            <a:avLst/>
          </a:prstGeom>
          <a:noFill/>
          <a:ln/>
        </p:spPr>
        <p:txBody>
          <a:bodyPr wrap="square" lIns="0" tIns="0" rIns="0" bIns="0" rtlCol="0" anchor="t"/>
          <a:lstStyle/>
          <a:p>
            <a:pPr algn="l" indent="0" marL="0">
              <a:buNone/>
            </a:pPr>
            <a:r>
              <a:rPr lang="en-US" sz="1250" dirty="0">
                <a:solidFill>
                  <a:srgbClr val="48544E"/>
                </a:solidFill>
                <a:latin typeface="Calibri" pitchFamily="34" charset="0"/>
                <a:ea typeface="Calibri" pitchFamily="34" charset="-122"/>
                <a:cs typeface="Calibri" pitchFamily="34" charset="-120"/>
              </a:rPr>
              <a:t>of them genuine</a:t>
            </a:r>
            <a:endParaRPr lang="en-US" sz="1250" dirty="0"/>
          </a:p>
          <a:p>
            <a:pPr algn="l" indent="0" marL="0">
              <a:buNone/>
            </a:pPr>
            <a:r>
              <a:rPr lang="en-US" sz="1250" dirty="0">
                <a:solidFill>
                  <a:srgbClr val="48544E"/>
                </a:solidFill>
                <a:latin typeface="Calibri" pitchFamily="34" charset="0"/>
                <a:ea typeface="Calibri" pitchFamily="34" charset="-122"/>
                <a:cs typeface="Calibri" pitchFamily="34" charset="-120"/>
              </a:rPr>
              <a:t>development attempts</a:t>
            </a:r>
            <a:endParaRPr lang="en-US" sz="1250" dirty="0"/>
          </a:p>
        </p:txBody>
      </p:sp>
      <p:sp>
        <p:nvSpPr>
          <p:cNvPr id="11" name="Shape 9"/>
          <p:cNvSpPr/>
          <p:nvPr/>
        </p:nvSpPr>
        <p:spPr>
          <a:xfrm>
            <a:off x="5106010" y="3017520"/>
            <a:ext cx="1949501" cy="2103120"/>
          </a:xfrm>
          <a:prstGeom prst="roundRect">
            <a:avLst>
              <a:gd name="adj" fmla="val 2814"/>
            </a:avLst>
          </a:prstGeom>
          <a:solidFill>
            <a:srgbClr val="F3F6F4"/>
          </a:solidFill>
          <a:ln w="9525">
            <a:solidFill>
              <a:srgbClr val="DCE4DF"/>
            </a:solidFill>
            <a:prstDash val="solid"/>
          </a:ln>
        </p:spPr>
      </p:sp>
      <p:sp>
        <p:nvSpPr>
          <p:cNvPr id="12" name="Text 10"/>
          <p:cNvSpPr txBox="1"/>
          <p:nvPr/>
        </p:nvSpPr>
        <p:spPr>
          <a:xfrm>
            <a:off x="5307178" y="3246120"/>
            <a:ext cx="1547165" cy="777240"/>
          </a:xfrm>
          <a:prstGeom prst="rect">
            <a:avLst/>
          </a:prstGeom>
          <a:noFill/>
          <a:ln/>
        </p:spPr>
        <p:txBody>
          <a:bodyPr wrap="square" lIns="0" tIns="0" rIns="0" bIns="0" rtlCol="0" anchor="ctr"/>
          <a:lstStyle/>
          <a:p>
            <a:pPr algn="l" indent="0" marL="0">
              <a:buNone/>
            </a:pPr>
            <a:r>
              <a:rPr lang="en-US" sz="4000" b="1" dirty="0">
                <a:solidFill>
                  <a:srgbClr val="1E6B4A"/>
                </a:solidFill>
                <a:latin typeface="Cambria" pitchFamily="34" charset="0"/>
                <a:ea typeface="Cambria" pitchFamily="34" charset="-122"/>
                <a:cs typeface="Cambria" pitchFamily="34" charset="-120"/>
              </a:rPr>
              <a:t>5</a:t>
            </a:r>
            <a:endParaRPr lang="en-US" sz="4000" dirty="0"/>
          </a:p>
        </p:txBody>
      </p:sp>
      <p:sp>
        <p:nvSpPr>
          <p:cNvPr id="13" name="Text 11"/>
          <p:cNvSpPr txBox="1"/>
          <p:nvPr/>
        </p:nvSpPr>
        <p:spPr>
          <a:xfrm>
            <a:off x="5307178" y="4096512"/>
            <a:ext cx="1547165" cy="868680"/>
          </a:xfrm>
          <a:prstGeom prst="rect">
            <a:avLst/>
          </a:prstGeom>
          <a:noFill/>
          <a:ln/>
        </p:spPr>
        <p:txBody>
          <a:bodyPr wrap="square" lIns="0" tIns="0" rIns="0" bIns="0" rtlCol="0" anchor="t"/>
          <a:lstStyle/>
          <a:p>
            <a:pPr algn="l" indent="0" marL="0">
              <a:buNone/>
            </a:pPr>
            <a:r>
              <a:rPr lang="en-US" sz="1250" dirty="0">
                <a:solidFill>
                  <a:srgbClr val="48544E"/>
                </a:solidFill>
                <a:latin typeface="Calibri" pitchFamily="34" charset="0"/>
                <a:ea typeface="Calibri" pitchFamily="34" charset="-122"/>
                <a:cs typeface="Calibri" pitchFamily="34" charset="-120"/>
              </a:rPr>
              <a:t>years of that work</a:t>
            </a:r>
            <a:endParaRPr lang="en-US" sz="1250" dirty="0"/>
          </a:p>
        </p:txBody>
      </p:sp>
      <p:sp>
        <p:nvSpPr>
          <p:cNvPr id="14" name="Shape 12"/>
          <p:cNvSpPr/>
          <p:nvPr/>
        </p:nvSpPr>
        <p:spPr>
          <a:xfrm>
            <a:off x="7329830" y="3017520"/>
            <a:ext cx="1949501" cy="2103120"/>
          </a:xfrm>
          <a:prstGeom prst="roundRect">
            <a:avLst>
              <a:gd name="adj" fmla="val 2814"/>
            </a:avLst>
          </a:prstGeom>
          <a:solidFill>
            <a:srgbClr val="F3F6F4"/>
          </a:solidFill>
          <a:ln w="9525">
            <a:solidFill>
              <a:srgbClr val="DCE4DF"/>
            </a:solidFill>
            <a:prstDash val="solid"/>
          </a:ln>
        </p:spPr>
      </p:sp>
      <p:sp>
        <p:nvSpPr>
          <p:cNvPr id="15" name="Text 13"/>
          <p:cNvSpPr txBox="1"/>
          <p:nvPr/>
        </p:nvSpPr>
        <p:spPr>
          <a:xfrm>
            <a:off x="7530998" y="3246120"/>
            <a:ext cx="1547165" cy="777240"/>
          </a:xfrm>
          <a:prstGeom prst="rect">
            <a:avLst/>
          </a:prstGeom>
          <a:noFill/>
          <a:ln/>
        </p:spPr>
        <p:txBody>
          <a:bodyPr wrap="square" lIns="0" tIns="0" rIns="0" bIns="0" rtlCol="0" anchor="ctr"/>
          <a:lstStyle/>
          <a:p>
            <a:pPr algn="l" indent="0" marL="0">
              <a:buNone/>
            </a:pPr>
            <a:r>
              <a:rPr lang="en-US" sz="4000" b="1" dirty="0">
                <a:solidFill>
                  <a:srgbClr val="A9701A"/>
                </a:solidFill>
                <a:latin typeface="Cambria" pitchFamily="34" charset="0"/>
                <a:ea typeface="Cambria" pitchFamily="34" charset="-122"/>
                <a:cs typeface="Cambria" pitchFamily="34" charset="-120"/>
              </a:rPr>
              <a:t>1</a:t>
            </a:r>
            <a:endParaRPr lang="en-US" sz="4000" dirty="0"/>
          </a:p>
        </p:txBody>
      </p:sp>
      <p:sp>
        <p:nvSpPr>
          <p:cNvPr id="16" name="Text 14"/>
          <p:cNvSpPr txBox="1"/>
          <p:nvPr/>
        </p:nvSpPr>
        <p:spPr>
          <a:xfrm>
            <a:off x="7530998" y="4096512"/>
            <a:ext cx="1547165" cy="868680"/>
          </a:xfrm>
          <a:prstGeom prst="rect">
            <a:avLst/>
          </a:prstGeom>
          <a:noFill/>
          <a:ln/>
        </p:spPr>
        <p:txBody>
          <a:bodyPr wrap="square" lIns="0" tIns="0" rIns="0" bIns="0" rtlCol="0" anchor="t"/>
          <a:lstStyle/>
          <a:p>
            <a:pPr algn="l" indent="0" marL="0">
              <a:buNone/>
            </a:pPr>
            <a:r>
              <a:rPr lang="en-US" sz="1250" dirty="0">
                <a:solidFill>
                  <a:srgbClr val="48544E"/>
                </a:solidFill>
                <a:latin typeface="Calibri" pitchFamily="34" charset="0"/>
                <a:ea typeface="Calibri" pitchFamily="34" charset="-122"/>
                <a:cs typeface="Calibri" pitchFamily="34" charset="-120"/>
              </a:rPr>
              <a:t>patent</a:t>
            </a:r>
            <a:endParaRPr lang="en-US" sz="1250" dirty="0"/>
          </a:p>
        </p:txBody>
      </p:sp>
      <p:sp>
        <p:nvSpPr>
          <p:cNvPr id="17" name="Shape 15"/>
          <p:cNvSpPr/>
          <p:nvPr/>
        </p:nvSpPr>
        <p:spPr>
          <a:xfrm>
            <a:off x="9553651" y="3017520"/>
            <a:ext cx="1949501" cy="2103120"/>
          </a:xfrm>
          <a:prstGeom prst="roundRect">
            <a:avLst>
              <a:gd name="adj" fmla="val 2814"/>
            </a:avLst>
          </a:prstGeom>
          <a:solidFill>
            <a:srgbClr val="F3F6F4"/>
          </a:solidFill>
          <a:ln w="9525">
            <a:solidFill>
              <a:srgbClr val="DCE4DF"/>
            </a:solidFill>
            <a:prstDash val="solid"/>
          </a:ln>
        </p:spPr>
      </p:sp>
      <p:sp>
        <p:nvSpPr>
          <p:cNvPr id="18" name="Text 16"/>
          <p:cNvSpPr txBox="1"/>
          <p:nvPr/>
        </p:nvSpPr>
        <p:spPr>
          <a:xfrm>
            <a:off x="9754819" y="3246120"/>
            <a:ext cx="1547165" cy="777240"/>
          </a:xfrm>
          <a:prstGeom prst="rect">
            <a:avLst/>
          </a:prstGeom>
          <a:noFill/>
          <a:ln/>
        </p:spPr>
        <p:txBody>
          <a:bodyPr wrap="square" lIns="0" tIns="0" rIns="0" bIns="0" rtlCol="0" anchor="ctr"/>
          <a:lstStyle/>
          <a:p>
            <a:pPr algn="l" indent="0" marL="0">
              <a:buNone/>
            </a:pPr>
            <a:r>
              <a:rPr lang="en-US" sz="4000" b="1" dirty="0">
                <a:solidFill>
                  <a:srgbClr val="A9701A"/>
                </a:solidFill>
                <a:latin typeface="Cambria" pitchFamily="34" charset="0"/>
                <a:ea typeface="Cambria" pitchFamily="34" charset="-122"/>
                <a:cs typeface="Cambria" pitchFamily="34" charset="-120"/>
              </a:rPr>
              <a:t>≤2</a:t>
            </a:r>
            <a:endParaRPr lang="en-US" sz="4000" dirty="0"/>
          </a:p>
        </p:txBody>
      </p:sp>
      <p:sp>
        <p:nvSpPr>
          <p:cNvPr id="19" name="Text 17"/>
          <p:cNvSpPr txBox="1"/>
          <p:nvPr/>
        </p:nvSpPr>
        <p:spPr>
          <a:xfrm>
            <a:off x="9754819" y="4096512"/>
            <a:ext cx="1547165" cy="868680"/>
          </a:xfrm>
          <a:prstGeom prst="rect">
            <a:avLst/>
          </a:prstGeom>
          <a:noFill/>
          <a:ln/>
        </p:spPr>
        <p:txBody>
          <a:bodyPr wrap="square" lIns="0" tIns="0" rIns="0" bIns="0" rtlCol="0" anchor="t"/>
          <a:lstStyle/>
          <a:p>
            <a:pPr algn="l" indent="0" marL="0">
              <a:buNone/>
            </a:pPr>
            <a:r>
              <a:rPr lang="en-US" sz="1250" dirty="0">
                <a:solidFill>
                  <a:srgbClr val="48544E"/>
                </a:solidFill>
                <a:latin typeface="Calibri" pitchFamily="34" charset="0"/>
                <a:ea typeface="Calibri" pitchFamily="34" charset="-122"/>
                <a:cs typeface="Calibri" pitchFamily="34" charset="-120"/>
              </a:rPr>
              <a:t>breakthrough products</a:t>
            </a:r>
            <a:endParaRPr lang="en-US" sz="1250" dirty="0"/>
          </a:p>
        </p:txBody>
      </p:sp>
      <p:sp>
        <p:nvSpPr>
          <p:cNvPr id="20" name="Text 18"/>
          <p:cNvSpPr txBox="1"/>
          <p:nvPr/>
        </p:nvSpPr>
        <p:spPr>
          <a:xfrm>
            <a:off x="658368" y="5532120"/>
            <a:ext cx="10844784" cy="411480"/>
          </a:xfrm>
          <a:prstGeom prst="rect">
            <a:avLst/>
          </a:prstGeom>
          <a:noFill/>
          <a:ln/>
        </p:spPr>
        <p:txBody>
          <a:bodyPr wrap="square" lIns="0" tIns="0" rIns="0" bIns="0" rtlCol="0" anchor="ctr"/>
          <a:lstStyle/>
          <a:p>
            <a:pPr indent="0" marL="0">
              <a:buNone/>
            </a:pPr>
            <a:r>
              <a:rPr lang="en-US" sz="1700" i="1" dirty="0">
                <a:solidFill>
                  <a:srgbClr val="17201C"/>
                </a:solidFill>
                <a:latin typeface="Calibri" pitchFamily="34" charset="0"/>
                <a:ea typeface="Calibri" pitchFamily="34" charset="-122"/>
                <a:cs typeface="Calibri" pitchFamily="34" charset="-120"/>
              </a:rPr>
              <a:t>The problem was never skill. The people making those samples are good at it.</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WHAT GOES WRONG</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Two things, over and over</a:t>
            </a:r>
            <a:endParaRPr lang="en-US" sz="3800" dirty="0"/>
          </a:p>
        </p:txBody>
      </p:sp>
      <p:sp>
        <p:nvSpPr>
          <p:cNvPr id="4" name="Shape 2"/>
          <p:cNvSpPr/>
          <p:nvPr/>
        </p:nvSpPr>
        <p:spPr>
          <a:xfrm>
            <a:off x="658368" y="2148840"/>
            <a:ext cx="5285232" cy="2286000"/>
          </a:xfrm>
          <a:prstGeom prst="roundRect">
            <a:avLst>
              <a:gd name="adj" fmla="val 2400"/>
            </a:avLst>
          </a:prstGeom>
          <a:solidFill>
            <a:srgbClr val="F3F6F4"/>
          </a:solidFill>
          <a:ln w="9525">
            <a:solidFill>
              <a:srgbClr val="DCE4DF"/>
            </a:solidFill>
            <a:prstDash val="solid"/>
          </a:ln>
        </p:spPr>
      </p:sp>
      <p:sp>
        <p:nvSpPr>
          <p:cNvPr id="5" name="Shape 3"/>
          <p:cNvSpPr/>
          <p:nvPr/>
        </p:nvSpPr>
        <p:spPr>
          <a:xfrm>
            <a:off x="1042416" y="2487168"/>
            <a:ext cx="384048" cy="384048"/>
          </a:xfrm>
          <a:prstGeom prst="ellipse">
            <a:avLst/>
          </a:prstGeom>
          <a:solidFill>
            <a:srgbClr val="1E6B4A"/>
          </a:solidFill>
          <a:ln w="12700">
            <a:solidFill>
              <a:srgbClr val="1E6B4A"/>
            </a:solidFill>
            <a:prstDash val="solid"/>
          </a:ln>
        </p:spPr>
      </p:sp>
      <p:sp>
        <p:nvSpPr>
          <p:cNvPr id="6" name="Text 4"/>
          <p:cNvSpPr txBox="1"/>
          <p:nvPr/>
        </p:nvSpPr>
        <p:spPr>
          <a:xfrm>
            <a:off x="1042416"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7" name="Text 5"/>
          <p:cNvSpPr txBox="1"/>
          <p:nvPr/>
        </p:nvSpPr>
        <p:spPr>
          <a:xfrm>
            <a:off x="1591056" y="2468880"/>
            <a:ext cx="3931920" cy="411480"/>
          </a:xfrm>
          <a:prstGeom prst="rect">
            <a:avLst/>
          </a:prstGeom>
          <a:noFill/>
          <a:ln/>
        </p:spPr>
        <p:txBody>
          <a:bodyPr wrap="square" lIns="0" tIns="0" rIns="0" bIns="0" rtlCol="0" anchor="ctr"/>
          <a:lstStyle/>
          <a:p>
            <a:pPr indent="0" marL="0">
              <a:buNone/>
            </a:pPr>
            <a:r>
              <a:rPr lang="en-US" sz="1900" b="1" dirty="0">
                <a:solidFill>
                  <a:srgbClr val="17201C"/>
                </a:solidFill>
                <a:latin typeface="Cambria" pitchFamily="34" charset="0"/>
                <a:ea typeface="Cambria" pitchFamily="34" charset="-122"/>
                <a:cs typeface="Cambria" pitchFamily="34" charset="-120"/>
              </a:rPr>
              <a:t>Made before the question</a:t>
            </a:r>
            <a:endParaRPr lang="en-US" sz="1900" dirty="0"/>
          </a:p>
        </p:txBody>
      </p:sp>
      <p:sp>
        <p:nvSpPr>
          <p:cNvPr id="8" name="Text 6"/>
          <p:cNvSpPr txBox="1"/>
          <p:nvPr/>
        </p:nvSpPr>
        <p:spPr>
          <a:xfrm>
            <a:off x="1042416" y="3108960"/>
            <a:ext cx="4553712" cy="1188720"/>
          </a:xfrm>
          <a:prstGeom prst="rect">
            <a:avLst/>
          </a:prstGeom>
          <a:noFill/>
          <a:ln/>
        </p:spPr>
        <p:txBody>
          <a:bodyPr wrap="square" lIns="0" tIns="0" rIns="0" bIns="0" rtlCol="0" anchor="t"/>
          <a:lstStyle/>
          <a:p>
            <a:pPr indent="0" marL="0">
              <a:buNone/>
            </a:pPr>
            <a:r>
              <a:rPr lang="en-US" sz="1400" dirty="0">
                <a:solidFill>
                  <a:srgbClr val="48544E"/>
                </a:solidFill>
                <a:latin typeface="Calibri" pitchFamily="34" charset="0"/>
                <a:ea typeface="Calibri" pitchFamily="34" charset="-122"/>
                <a:cs typeface="Calibri" pitchFamily="34" charset="-120"/>
              </a:rPr>
              <a:t>A sample gets made before anyone has written down what question it is supposed to answer. Six months later nobody can say what it was for, so nothing was learned from it.</a:t>
            </a:r>
            <a:endParaRPr lang="en-US" sz="1400" dirty="0"/>
          </a:p>
        </p:txBody>
      </p:sp>
      <p:sp>
        <p:nvSpPr>
          <p:cNvPr id="9" name="Shape 7"/>
          <p:cNvSpPr/>
          <p:nvPr/>
        </p:nvSpPr>
        <p:spPr>
          <a:xfrm>
            <a:off x="6217920" y="2148840"/>
            <a:ext cx="5285232" cy="2286000"/>
          </a:xfrm>
          <a:prstGeom prst="roundRect">
            <a:avLst>
              <a:gd name="adj" fmla="val 2400"/>
            </a:avLst>
          </a:prstGeom>
          <a:solidFill>
            <a:srgbClr val="F3F6F4"/>
          </a:solidFill>
          <a:ln w="9525">
            <a:solidFill>
              <a:srgbClr val="DCE4DF"/>
            </a:solidFill>
            <a:prstDash val="solid"/>
          </a:ln>
        </p:spPr>
      </p:sp>
      <p:sp>
        <p:nvSpPr>
          <p:cNvPr id="10" name="Shape 8"/>
          <p:cNvSpPr/>
          <p:nvPr/>
        </p:nvSpPr>
        <p:spPr>
          <a:xfrm>
            <a:off x="6601968" y="2487168"/>
            <a:ext cx="384048" cy="384048"/>
          </a:xfrm>
          <a:prstGeom prst="ellipse">
            <a:avLst/>
          </a:prstGeom>
          <a:solidFill>
            <a:srgbClr val="A9701A"/>
          </a:solidFill>
          <a:ln w="12700">
            <a:solidFill>
              <a:srgbClr val="A9701A"/>
            </a:solidFill>
            <a:prstDash val="solid"/>
          </a:ln>
        </p:spPr>
      </p:sp>
      <p:sp>
        <p:nvSpPr>
          <p:cNvPr id="11" name="Text 9"/>
          <p:cNvSpPr txBox="1"/>
          <p:nvPr/>
        </p:nvSpPr>
        <p:spPr>
          <a:xfrm>
            <a:off x="6601968" y="24871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2" name="Text 10"/>
          <p:cNvSpPr txBox="1"/>
          <p:nvPr/>
        </p:nvSpPr>
        <p:spPr>
          <a:xfrm>
            <a:off x="7150608" y="2468880"/>
            <a:ext cx="3931920" cy="411480"/>
          </a:xfrm>
          <a:prstGeom prst="rect">
            <a:avLst/>
          </a:prstGeom>
          <a:noFill/>
          <a:ln/>
        </p:spPr>
        <p:txBody>
          <a:bodyPr wrap="square" lIns="0" tIns="0" rIns="0" bIns="0" rtlCol="0" anchor="ctr"/>
          <a:lstStyle/>
          <a:p>
            <a:pPr indent="0" marL="0">
              <a:buNone/>
            </a:pPr>
            <a:r>
              <a:rPr lang="en-US" sz="1900" b="1" dirty="0">
                <a:solidFill>
                  <a:srgbClr val="17201C"/>
                </a:solidFill>
                <a:latin typeface="Cambria" pitchFamily="34" charset="0"/>
                <a:ea typeface="Cambria" pitchFamily="34" charset="-122"/>
                <a:cs typeface="Cambria" pitchFamily="34" charset="-120"/>
              </a:rPr>
              <a:t>Stopped without the result</a:t>
            </a:r>
            <a:endParaRPr lang="en-US" sz="1900" dirty="0"/>
          </a:p>
        </p:txBody>
      </p:sp>
      <p:sp>
        <p:nvSpPr>
          <p:cNvPr id="13" name="Text 11"/>
          <p:cNvSpPr txBox="1"/>
          <p:nvPr/>
        </p:nvSpPr>
        <p:spPr>
          <a:xfrm>
            <a:off x="6601968" y="3108960"/>
            <a:ext cx="4553712" cy="1188720"/>
          </a:xfrm>
          <a:prstGeom prst="rect">
            <a:avLst/>
          </a:prstGeom>
          <a:noFill/>
          <a:ln/>
        </p:spPr>
        <p:txBody>
          <a:bodyPr wrap="square" lIns="0" tIns="0" rIns="0" bIns="0" rtlCol="0" anchor="t"/>
          <a:lstStyle/>
          <a:p>
            <a:pPr indent="0" marL="0">
              <a:buNone/>
            </a:pPr>
            <a:r>
              <a:rPr lang="en-US" sz="1400" dirty="0">
                <a:solidFill>
                  <a:srgbClr val="48544E"/>
                </a:solidFill>
                <a:latin typeface="Calibri" pitchFamily="34" charset="0"/>
                <a:ea typeface="Calibri" pitchFamily="34" charset="-122"/>
                <a:cs typeface="Calibri" pitchFamily="34" charset="-120"/>
              </a:rPr>
              <a:t>Work stops and nobody writes what it showed. A year later the only person who knows why we abandoned a route is the person who abandoned it — and often they no longer remember either.</a:t>
            </a:r>
            <a:endParaRPr lang="en-US" sz="1400" dirty="0"/>
          </a:p>
        </p:txBody>
      </p:sp>
      <p:sp>
        <p:nvSpPr>
          <p:cNvPr id="14" name="Text 12"/>
          <p:cNvSpPr txBox="1"/>
          <p:nvPr/>
        </p:nvSpPr>
        <p:spPr>
          <a:xfrm>
            <a:off x="658368" y="4892040"/>
            <a:ext cx="10881360" cy="548640"/>
          </a:xfrm>
          <a:prstGeom prst="rect">
            <a:avLst/>
          </a:prstGeom>
          <a:noFill/>
          <a:ln/>
        </p:spPr>
        <p:txBody>
          <a:bodyPr wrap="square" lIns="0" tIns="0" rIns="0" bIns="0" rtlCol="0" anchor="ctr"/>
          <a:lstStyle/>
          <a:p>
            <a:pPr indent="0" marL="0">
              <a:buNone/>
            </a:pPr>
            <a:r>
              <a:rPr lang="en-US" sz="1550" dirty="0">
                <a:solidFill>
                  <a:srgbClr val="48544E"/>
                </a:solidFill>
                <a:latin typeface="Calibri" pitchFamily="34" charset="0"/>
                <a:ea typeface="Calibri" pitchFamily="34" charset="-122"/>
                <a:cs typeface="Calibri" pitchFamily="34" charset="-120"/>
              </a:rPr>
              <a:t>PD exists to fix those two things and nothing else. It is not a project tracker. It will not tell you how to formulate.</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2B1C"/>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7FBFA0"/>
                </a:solidFill>
                <a:latin typeface="Calibri" pitchFamily="34" charset="0"/>
                <a:ea typeface="Calibri" pitchFamily="34" charset="-122"/>
                <a:cs typeface="Calibri" pitchFamily="34" charset="-120"/>
              </a:rPr>
              <a:t>THE WHOLE SYSTEM</a:t>
            </a:r>
            <a:endParaRPr lang="en-US" sz="1100" dirty="0"/>
          </a:p>
        </p:txBody>
      </p:sp>
      <p:sp>
        <p:nvSpPr>
          <p:cNvPr id="3" name="Text 1"/>
          <p:cNvSpPr txBox="1"/>
          <p:nvPr/>
        </p:nvSpPr>
        <p:spPr>
          <a:xfrm>
            <a:off x="658368" y="749808"/>
            <a:ext cx="100584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Two sentences</a:t>
            </a:r>
            <a:endParaRPr lang="en-US" sz="3800" dirty="0"/>
          </a:p>
        </p:txBody>
      </p:sp>
      <p:sp>
        <p:nvSpPr>
          <p:cNvPr id="4" name="Shape 2"/>
          <p:cNvSpPr/>
          <p:nvPr/>
        </p:nvSpPr>
        <p:spPr>
          <a:xfrm>
            <a:off x="658368" y="2103120"/>
            <a:ext cx="10835640" cy="1170432"/>
          </a:xfrm>
          <a:prstGeom prst="roundRect">
            <a:avLst>
              <a:gd name="adj" fmla="val 4688"/>
            </a:avLst>
          </a:prstGeom>
          <a:solidFill>
            <a:srgbClr val="1A3A26"/>
          </a:solidFill>
          <a:ln w="9525">
            <a:solidFill>
              <a:srgbClr val="27553A"/>
            </a:solidFill>
            <a:prstDash val="solid"/>
          </a:ln>
        </p:spPr>
      </p:sp>
      <p:sp>
        <p:nvSpPr>
          <p:cNvPr id="5" name="Shape 3"/>
          <p:cNvSpPr/>
          <p:nvPr/>
        </p:nvSpPr>
        <p:spPr>
          <a:xfrm>
            <a:off x="1042416" y="2487168"/>
            <a:ext cx="384048" cy="384048"/>
          </a:xfrm>
          <a:prstGeom prst="ellipse">
            <a:avLst/>
          </a:prstGeom>
          <a:solidFill>
            <a:srgbClr val="A9701A"/>
          </a:solidFill>
          <a:ln w="12700">
            <a:solidFill>
              <a:srgbClr val="A9701A"/>
            </a:solidFill>
            <a:prstDash val="solid"/>
          </a:ln>
        </p:spPr>
      </p:sp>
      <p:sp>
        <p:nvSpPr>
          <p:cNvPr id="6" name="Text 4"/>
          <p:cNvSpPr txBox="1"/>
          <p:nvPr/>
        </p:nvSpPr>
        <p:spPr>
          <a:xfrm>
            <a:off x="1042416" y="2487168"/>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627632" y="2304288"/>
            <a:ext cx="9235440" cy="777240"/>
          </a:xfrm>
          <a:prstGeom prst="rect">
            <a:avLst/>
          </a:prstGeom>
          <a:noFill/>
          <a:ln/>
        </p:spPr>
        <p:txBody>
          <a:bodyPr wrap="square" lIns="0" tIns="0" rIns="0" bIns="0" rtlCol="0" anchor="ctr"/>
          <a:lstStyle/>
          <a:p>
            <a:pPr indent="0" marL="0">
              <a:buNone/>
            </a:pPr>
            <a:r>
              <a:rPr lang="en-US" sz="2200" dirty="0">
                <a:solidFill>
                  <a:srgbClr val="FFFFFF"/>
                </a:solidFill>
                <a:latin typeface="Cambria" pitchFamily="34" charset="0"/>
                <a:ea typeface="Cambria" pitchFamily="34" charset="-122"/>
                <a:cs typeface="Cambria" pitchFamily="34" charset="-120"/>
              </a:rPr>
              <a:t>Nothing gets made until we have written the question it answers.</a:t>
            </a:r>
            <a:endParaRPr lang="en-US" sz="2200" dirty="0"/>
          </a:p>
        </p:txBody>
      </p:sp>
      <p:sp>
        <p:nvSpPr>
          <p:cNvPr id="8" name="Shape 6"/>
          <p:cNvSpPr/>
          <p:nvPr/>
        </p:nvSpPr>
        <p:spPr>
          <a:xfrm>
            <a:off x="658368" y="3520440"/>
            <a:ext cx="10835640" cy="1170432"/>
          </a:xfrm>
          <a:prstGeom prst="roundRect">
            <a:avLst>
              <a:gd name="adj" fmla="val 4688"/>
            </a:avLst>
          </a:prstGeom>
          <a:solidFill>
            <a:srgbClr val="1A3A26"/>
          </a:solidFill>
          <a:ln w="9525">
            <a:solidFill>
              <a:srgbClr val="27553A"/>
            </a:solidFill>
            <a:prstDash val="solid"/>
          </a:ln>
        </p:spPr>
      </p:sp>
      <p:sp>
        <p:nvSpPr>
          <p:cNvPr id="9" name="Shape 7"/>
          <p:cNvSpPr/>
          <p:nvPr/>
        </p:nvSpPr>
        <p:spPr>
          <a:xfrm>
            <a:off x="1042416" y="3904488"/>
            <a:ext cx="384048" cy="384048"/>
          </a:xfrm>
          <a:prstGeom prst="ellipse">
            <a:avLst/>
          </a:prstGeom>
          <a:solidFill>
            <a:srgbClr val="A9701A"/>
          </a:solidFill>
          <a:ln w="12700">
            <a:solidFill>
              <a:srgbClr val="A9701A"/>
            </a:solidFill>
            <a:prstDash val="solid"/>
          </a:ln>
        </p:spPr>
      </p:sp>
      <p:sp>
        <p:nvSpPr>
          <p:cNvPr id="10" name="Text 8"/>
          <p:cNvSpPr txBox="1"/>
          <p:nvPr/>
        </p:nvSpPr>
        <p:spPr>
          <a:xfrm>
            <a:off x="1042416" y="3904488"/>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627632" y="3721608"/>
            <a:ext cx="9235440" cy="777240"/>
          </a:xfrm>
          <a:prstGeom prst="rect">
            <a:avLst/>
          </a:prstGeom>
          <a:noFill/>
          <a:ln/>
        </p:spPr>
        <p:txBody>
          <a:bodyPr wrap="square" lIns="0" tIns="0" rIns="0" bIns="0" rtlCol="0" anchor="ctr"/>
          <a:lstStyle/>
          <a:p>
            <a:pPr indent="0" marL="0">
              <a:buNone/>
            </a:pPr>
            <a:r>
              <a:rPr lang="en-US" sz="2200" dirty="0">
                <a:solidFill>
                  <a:srgbClr val="FFFFFF"/>
                </a:solidFill>
                <a:latin typeface="Cambria" pitchFamily="34" charset="0"/>
                <a:ea typeface="Cambria" pitchFamily="34" charset="-122"/>
                <a:cs typeface="Cambria" pitchFamily="34" charset="-120"/>
              </a:rPr>
              <a:t>Nothing gets closed until we have written the result — pass, fail, or parked, and why.</a:t>
            </a:r>
            <a:endParaRPr lang="en-US" sz="2200" dirty="0"/>
          </a:p>
        </p:txBody>
      </p:sp>
      <p:sp>
        <p:nvSpPr>
          <p:cNvPr id="12" name="Text 10"/>
          <p:cNvSpPr txBox="1"/>
          <p:nvPr/>
        </p:nvSpPr>
        <p:spPr>
          <a:xfrm>
            <a:off x="658368" y="5120640"/>
            <a:ext cx="10835640" cy="548640"/>
          </a:xfrm>
          <a:prstGeom prst="rect">
            <a:avLst/>
          </a:prstGeom>
          <a:noFill/>
          <a:ln/>
        </p:spPr>
        <p:txBody>
          <a:bodyPr wrap="square" lIns="0" tIns="0" rIns="0" bIns="0" rtlCol="0" anchor="ctr"/>
          <a:lstStyle/>
          <a:p>
            <a:pPr indent="0" marL="0">
              <a:buNone/>
            </a:pPr>
            <a:r>
              <a:rPr lang="en-US" sz="1450" dirty="0">
                <a:solidFill>
                  <a:srgbClr val="A9C4B4"/>
                </a:solidFill>
                <a:latin typeface="Calibri" pitchFamily="34" charset="0"/>
                <a:ea typeface="Calibri" pitchFamily="34" charset="-122"/>
                <a:cs typeface="Calibri" pitchFamily="34" charset="-120"/>
              </a:rPr>
              <a:t>Everything on every screen exists to serve one of them. When the software refuses something, it is always one of these two refusing.</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THE SHAPE</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Five things you will write</a:t>
            </a:r>
            <a:endParaRPr lang="en-US" sz="3800" dirty="0"/>
          </a:p>
        </p:txBody>
      </p:sp>
      <p:sp>
        <p:nvSpPr>
          <p:cNvPr id="4" name="Shape 2"/>
          <p:cNvSpPr/>
          <p:nvPr/>
        </p:nvSpPr>
        <p:spPr>
          <a:xfrm>
            <a:off x="658368" y="2084832"/>
            <a:ext cx="384048" cy="384048"/>
          </a:xfrm>
          <a:prstGeom prst="ellipse">
            <a:avLst/>
          </a:prstGeom>
          <a:solidFill>
            <a:srgbClr val="1E6B4A"/>
          </a:solidFill>
          <a:ln w="12700">
            <a:solidFill>
              <a:srgbClr val="1E6B4A"/>
            </a:solidFill>
            <a:prstDash val="solid"/>
          </a:ln>
        </p:spPr>
      </p:sp>
      <p:sp>
        <p:nvSpPr>
          <p:cNvPr id="5" name="Text 3"/>
          <p:cNvSpPr txBox="1"/>
          <p:nvPr/>
        </p:nvSpPr>
        <p:spPr>
          <a:xfrm>
            <a:off x="658368" y="20848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25296" y="2066544"/>
            <a:ext cx="1371600" cy="292608"/>
          </a:xfrm>
          <a:prstGeom prst="rect">
            <a:avLst/>
          </a:prstGeom>
          <a:noFill/>
          <a:ln/>
        </p:spPr>
        <p:txBody>
          <a:bodyPr wrap="square" lIns="0" tIns="0" rIns="0" bIns="0" rtlCol="0" anchor="ctr"/>
          <a:lstStyle/>
          <a:p>
            <a:pPr indent="0" marL="0">
              <a:buNone/>
            </a:pPr>
            <a:r>
              <a:rPr lang="en-US" sz="1700" b="1" dirty="0">
                <a:solidFill>
                  <a:srgbClr val="17201C"/>
                </a:solidFill>
                <a:latin typeface="Cambria" pitchFamily="34" charset="0"/>
                <a:ea typeface="Cambria" pitchFamily="34" charset="-122"/>
                <a:cs typeface="Cambria" pitchFamily="34" charset="-120"/>
              </a:rPr>
              <a:t>Problem</a:t>
            </a:r>
            <a:endParaRPr lang="en-US" sz="1700" dirty="0"/>
          </a:p>
        </p:txBody>
      </p:sp>
      <p:sp>
        <p:nvSpPr>
          <p:cNvPr id="7" name="Text 5"/>
          <p:cNvSpPr txBox="1"/>
          <p:nvPr/>
        </p:nvSpPr>
        <p:spPr>
          <a:xfrm>
            <a:off x="2651760" y="2039112"/>
            <a:ext cx="4114800" cy="64008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A real field or market pain, or a stated product concept. Long-lived. Everything hangs off it.</a:t>
            </a:r>
            <a:endParaRPr lang="en-US" sz="1250" dirty="0"/>
          </a:p>
        </p:txBody>
      </p:sp>
      <p:sp>
        <p:nvSpPr>
          <p:cNvPr id="8" name="Text 6"/>
          <p:cNvSpPr txBox="1"/>
          <p:nvPr/>
        </p:nvSpPr>
        <p:spPr>
          <a:xfrm>
            <a:off x="6986016" y="2039112"/>
            <a:ext cx="4480560" cy="640080"/>
          </a:xfrm>
          <a:prstGeom prst="rect">
            <a:avLst/>
          </a:prstGeom>
          <a:noFill/>
          <a:ln/>
        </p:spPr>
        <p:txBody>
          <a:bodyPr wrap="square" lIns="0" tIns="0" rIns="0" bIns="0" rtlCol="0" anchor="t"/>
          <a:lstStyle/>
          <a:p>
            <a:pPr indent="0" marL="0">
              <a:buNone/>
            </a:pPr>
            <a:r>
              <a:rPr lang="en-US" sz="1250" i="1" dirty="0">
                <a:solidFill>
                  <a:srgbClr val="1E6B4A"/>
                </a:solidFill>
                <a:latin typeface="Calibri" pitchFamily="34" charset="0"/>
                <a:ea typeface="Calibri" pitchFamily="34" charset="-122"/>
                <a:cs typeface="Calibri" pitchFamily="34" charset="-120"/>
              </a:rPr>
              <a:t>Potassium settles out of V Germinator Pro.</a:t>
            </a:r>
            <a:endParaRPr lang="en-US" sz="1250" dirty="0"/>
          </a:p>
        </p:txBody>
      </p:sp>
      <p:sp>
        <p:nvSpPr>
          <p:cNvPr id="9" name="Shape 7"/>
          <p:cNvSpPr/>
          <p:nvPr/>
        </p:nvSpPr>
        <p:spPr>
          <a:xfrm>
            <a:off x="658368" y="2843784"/>
            <a:ext cx="384048" cy="384048"/>
          </a:xfrm>
          <a:prstGeom prst="ellipse">
            <a:avLst/>
          </a:prstGeom>
          <a:solidFill>
            <a:srgbClr val="1E6B4A"/>
          </a:solidFill>
          <a:ln w="12700">
            <a:solidFill>
              <a:srgbClr val="1E6B4A"/>
            </a:solidFill>
            <a:prstDash val="solid"/>
          </a:ln>
        </p:spPr>
      </p:sp>
      <p:sp>
        <p:nvSpPr>
          <p:cNvPr id="10" name="Text 8"/>
          <p:cNvSpPr txBox="1"/>
          <p:nvPr/>
        </p:nvSpPr>
        <p:spPr>
          <a:xfrm>
            <a:off x="658368" y="28437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25296" y="2825496"/>
            <a:ext cx="1371600" cy="292608"/>
          </a:xfrm>
          <a:prstGeom prst="rect">
            <a:avLst/>
          </a:prstGeom>
          <a:noFill/>
          <a:ln/>
        </p:spPr>
        <p:txBody>
          <a:bodyPr wrap="square" lIns="0" tIns="0" rIns="0" bIns="0" rtlCol="0" anchor="ctr"/>
          <a:lstStyle/>
          <a:p>
            <a:pPr indent="0" marL="0">
              <a:buNone/>
            </a:pPr>
            <a:r>
              <a:rPr lang="en-US" sz="1700" b="1" dirty="0">
                <a:solidFill>
                  <a:srgbClr val="17201C"/>
                </a:solidFill>
                <a:latin typeface="Cambria" pitchFamily="34" charset="0"/>
                <a:ea typeface="Cambria" pitchFamily="34" charset="-122"/>
                <a:cs typeface="Cambria" pitchFamily="34" charset="-120"/>
              </a:rPr>
              <a:t>Question</a:t>
            </a:r>
            <a:endParaRPr lang="en-US" sz="1700" dirty="0"/>
          </a:p>
        </p:txBody>
      </p:sp>
      <p:sp>
        <p:nvSpPr>
          <p:cNvPr id="12" name="Text 10"/>
          <p:cNvSpPr txBox="1"/>
          <p:nvPr/>
        </p:nvSpPr>
        <p:spPr>
          <a:xfrm>
            <a:off x="2651760" y="2798064"/>
            <a:ext cx="4114800" cy="64008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Something we must know to solve it. A named nature, an owner, and a date when you know it.</a:t>
            </a:r>
            <a:endParaRPr lang="en-US" sz="1250" dirty="0"/>
          </a:p>
        </p:txBody>
      </p:sp>
      <p:sp>
        <p:nvSpPr>
          <p:cNvPr id="13" name="Text 11"/>
          <p:cNvSpPr txBox="1"/>
          <p:nvPr/>
        </p:nvSpPr>
        <p:spPr>
          <a:xfrm>
            <a:off x="6986016" y="2798064"/>
            <a:ext cx="4480560" cy="640080"/>
          </a:xfrm>
          <a:prstGeom prst="rect">
            <a:avLst/>
          </a:prstGeom>
          <a:noFill/>
          <a:ln/>
        </p:spPr>
        <p:txBody>
          <a:bodyPr wrap="square" lIns="0" tIns="0" rIns="0" bIns="0" rtlCol="0" anchor="t"/>
          <a:lstStyle/>
          <a:p>
            <a:pPr indent="0" marL="0">
              <a:buNone/>
            </a:pPr>
            <a:r>
              <a:rPr lang="en-US" sz="1250" i="1" dirty="0">
                <a:solidFill>
                  <a:srgbClr val="1E6B4A"/>
                </a:solidFill>
                <a:latin typeface="Calibri" pitchFamily="34" charset="0"/>
                <a:ea typeface="Calibri" pitchFamily="34" charset="-122"/>
                <a:cs typeface="Calibri" pitchFamily="34" charset="-120"/>
              </a:rPr>
              <a:t>Which K source holds its K₂O without settling?</a:t>
            </a:r>
            <a:endParaRPr lang="en-US" sz="1250" dirty="0"/>
          </a:p>
        </p:txBody>
      </p:sp>
      <p:sp>
        <p:nvSpPr>
          <p:cNvPr id="14" name="Shape 12"/>
          <p:cNvSpPr/>
          <p:nvPr/>
        </p:nvSpPr>
        <p:spPr>
          <a:xfrm>
            <a:off x="658368" y="3602736"/>
            <a:ext cx="384048" cy="384048"/>
          </a:xfrm>
          <a:prstGeom prst="ellipse">
            <a:avLst/>
          </a:prstGeom>
          <a:solidFill>
            <a:srgbClr val="1E6B4A"/>
          </a:solidFill>
          <a:ln w="12700">
            <a:solidFill>
              <a:srgbClr val="1E6B4A"/>
            </a:solidFill>
            <a:prstDash val="solid"/>
          </a:ln>
        </p:spPr>
      </p:sp>
      <p:sp>
        <p:nvSpPr>
          <p:cNvPr id="15" name="Text 13"/>
          <p:cNvSpPr txBox="1"/>
          <p:nvPr/>
        </p:nvSpPr>
        <p:spPr>
          <a:xfrm>
            <a:off x="658368" y="36027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25296" y="3584448"/>
            <a:ext cx="1371600" cy="292608"/>
          </a:xfrm>
          <a:prstGeom prst="rect">
            <a:avLst/>
          </a:prstGeom>
          <a:noFill/>
          <a:ln/>
        </p:spPr>
        <p:txBody>
          <a:bodyPr wrap="square" lIns="0" tIns="0" rIns="0" bIns="0" rtlCol="0" anchor="ctr"/>
          <a:lstStyle/>
          <a:p>
            <a:pPr indent="0" marL="0">
              <a:buNone/>
            </a:pPr>
            <a:r>
              <a:rPr lang="en-US" sz="1700" b="1" dirty="0">
                <a:solidFill>
                  <a:srgbClr val="17201C"/>
                </a:solidFill>
                <a:latin typeface="Cambria" pitchFamily="34" charset="0"/>
                <a:ea typeface="Cambria" pitchFamily="34" charset="-122"/>
                <a:cs typeface="Cambria" pitchFamily="34" charset="-120"/>
              </a:rPr>
              <a:t>Bet</a:t>
            </a:r>
            <a:endParaRPr lang="en-US" sz="1700" dirty="0"/>
          </a:p>
        </p:txBody>
      </p:sp>
      <p:sp>
        <p:nvSpPr>
          <p:cNvPr id="17" name="Text 15"/>
          <p:cNvSpPr txBox="1"/>
          <p:nvPr/>
        </p:nvSpPr>
        <p:spPr>
          <a:xfrm>
            <a:off x="2651760" y="3557016"/>
            <a:ext cx="4114800" cy="64008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A specific approach, carrying the one result that would kill it — written before any bench work.</a:t>
            </a:r>
            <a:endParaRPr lang="en-US" sz="1250" dirty="0"/>
          </a:p>
        </p:txBody>
      </p:sp>
      <p:sp>
        <p:nvSpPr>
          <p:cNvPr id="18" name="Text 16"/>
          <p:cNvSpPr txBox="1"/>
          <p:nvPr/>
        </p:nvSpPr>
        <p:spPr>
          <a:xfrm>
            <a:off x="6986016" y="3557016"/>
            <a:ext cx="4480560" cy="640080"/>
          </a:xfrm>
          <a:prstGeom prst="rect">
            <a:avLst/>
          </a:prstGeom>
          <a:noFill/>
          <a:ln/>
        </p:spPr>
        <p:txBody>
          <a:bodyPr wrap="square" lIns="0" tIns="0" rIns="0" bIns="0" rtlCol="0" anchor="t"/>
          <a:lstStyle/>
          <a:p>
            <a:pPr indent="0" marL="0">
              <a:buNone/>
            </a:pPr>
            <a:r>
              <a:rPr lang="en-US" sz="1250" i="1" dirty="0">
                <a:solidFill>
                  <a:srgbClr val="1E6B4A"/>
                </a:solidFill>
                <a:latin typeface="Calibri" pitchFamily="34" charset="0"/>
                <a:ea typeface="Calibri" pitchFamily="34" charset="-122"/>
                <a:cs typeface="Calibri" pitchFamily="34" charset="-120"/>
              </a:rPr>
              <a:t>Use potassium carbonate. Ends if it settles or K₂O falls in one month.</a:t>
            </a:r>
            <a:endParaRPr lang="en-US" sz="1250" dirty="0"/>
          </a:p>
        </p:txBody>
      </p:sp>
      <p:sp>
        <p:nvSpPr>
          <p:cNvPr id="19" name="Shape 17"/>
          <p:cNvSpPr/>
          <p:nvPr/>
        </p:nvSpPr>
        <p:spPr>
          <a:xfrm>
            <a:off x="658368" y="4361688"/>
            <a:ext cx="384048" cy="384048"/>
          </a:xfrm>
          <a:prstGeom prst="ellipse">
            <a:avLst/>
          </a:prstGeom>
          <a:solidFill>
            <a:srgbClr val="1E6B4A"/>
          </a:solidFill>
          <a:ln w="12700">
            <a:solidFill>
              <a:srgbClr val="1E6B4A"/>
            </a:solidFill>
            <a:prstDash val="solid"/>
          </a:ln>
        </p:spPr>
      </p:sp>
      <p:sp>
        <p:nvSpPr>
          <p:cNvPr id="20" name="Text 18"/>
          <p:cNvSpPr txBox="1"/>
          <p:nvPr/>
        </p:nvSpPr>
        <p:spPr>
          <a:xfrm>
            <a:off x="658368" y="43616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txBox="1"/>
          <p:nvPr/>
        </p:nvSpPr>
        <p:spPr>
          <a:xfrm>
            <a:off x="1225296" y="4343400"/>
            <a:ext cx="1371600" cy="292608"/>
          </a:xfrm>
          <a:prstGeom prst="rect">
            <a:avLst/>
          </a:prstGeom>
          <a:noFill/>
          <a:ln/>
        </p:spPr>
        <p:txBody>
          <a:bodyPr wrap="square" lIns="0" tIns="0" rIns="0" bIns="0" rtlCol="0" anchor="ctr"/>
          <a:lstStyle/>
          <a:p>
            <a:pPr indent="0" marL="0">
              <a:buNone/>
            </a:pPr>
            <a:r>
              <a:rPr lang="en-US" sz="1700" b="1" dirty="0">
                <a:solidFill>
                  <a:srgbClr val="17201C"/>
                </a:solidFill>
                <a:latin typeface="Cambria" pitchFamily="34" charset="0"/>
                <a:ea typeface="Cambria" pitchFamily="34" charset="-122"/>
                <a:cs typeface="Cambria" pitchFamily="34" charset="-120"/>
              </a:rPr>
              <a:t>Run</a:t>
            </a:r>
            <a:endParaRPr lang="en-US" sz="1700" dirty="0"/>
          </a:p>
        </p:txBody>
      </p:sp>
      <p:sp>
        <p:nvSpPr>
          <p:cNvPr id="22" name="Text 20"/>
          <p:cNvSpPr txBox="1"/>
          <p:nvPr/>
        </p:nvSpPr>
        <p:spPr>
          <a:xfrm>
            <a:off x="2651760" y="4315968"/>
            <a:ext cx="4114800" cy="64008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One recipe made and measured. What was expected against what actually happened.</a:t>
            </a:r>
            <a:endParaRPr lang="en-US" sz="1250" dirty="0"/>
          </a:p>
        </p:txBody>
      </p:sp>
      <p:sp>
        <p:nvSpPr>
          <p:cNvPr id="23" name="Text 21"/>
          <p:cNvSpPr txBox="1"/>
          <p:nvPr/>
        </p:nvSpPr>
        <p:spPr>
          <a:xfrm>
            <a:off x="6986016" y="4315968"/>
            <a:ext cx="4480560" cy="640080"/>
          </a:xfrm>
          <a:prstGeom prst="rect">
            <a:avLst/>
          </a:prstGeom>
          <a:noFill/>
          <a:ln/>
        </p:spPr>
        <p:txBody>
          <a:bodyPr wrap="square" lIns="0" tIns="0" rIns="0" bIns="0" rtlCol="0" anchor="t"/>
          <a:lstStyle/>
          <a:p>
            <a:pPr indent="0" marL="0">
              <a:buNone/>
            </a:pPr>
            <a:r>
              <a:rPr lang="en-US" sz="1250" i="1" dirty="0">
                <a:solidFill>
                  <a:srgbClr val="1E6B4A"/>
                </a:solidFill>
                <a:latin typeface="Calibri" pitchFamily="34" charset="0"/>
                <a:ea typeface="Calibri" pitchFamily="34" charset="-122"/>
                <a:cs typeface="Calibri" pitchFamily="34" charset="-120"/>
              </a:rPr>
              <a:t>Expected: no settling. Actual: white material at the bottom.</a:t>
            </a:r>
            <a:endParaRPr lang="en-US" sz="1250" dirty="0"/>
          </a:p>
        </p:txBody>
      </p:sp>
      <p:sp>
        <p:nvSpPr>
          <p:cNvPr id="24" name="Shape 22"/>
          <p:cNvSpPr/>
          <p:nvPr/>
        </p:nvSpPr>
        <p:spPr>
          <a:xfrm>
            <a:off x="658368" y="5120640"/>
            <a:ext cx="384048" cy="384048"/>
          </a:xfrm>
          <a:prstGeom prst="ellipse">
            <a:avLst/>
          </a:prstGeom>
          <a:solidFill>
            <a:srgbClr val="A9701A"/>
          </a:solidFill>
          <a:ln w="12700">
            <a:solidFill>
              <a:srgbClr val="A9701A"/>
            </a:solidFill>
            <a:prstDash val="solid"/>
          </a:ln>
        </p:spPr>
      </p:sp>
      <p:sp>
        <p:nvSpPr>
          <p:cNvPr id="25" name="Text 23"/>
          <p:cNvSpPr txBox="1"/>
          <p:nvPr/>
        </p:nvSpPr>
        <p:spPr>
          <a:xfrm>
            <a:off x="658368" y="512064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1225296" y="5102352"/>
            <a:ext cx="1371600" cy="292608"/>
          </a:xfrm>
          <a:prstGeom prst="rect">
            <a:avLst/>
          </a:prstGeom>
          <a:noFill/>
          <a:ln/>
        </p:spPr>
        <p:txBody>
          <a:bodyPr wrap="square" lIns="0" tIns="0" rIns="0" bIns="0" rtlCol="0" anchor="ctr"/>
          <a:lstStyle/>
          <a:p>
            <a:pPr indent="0" marL="0">
              <a:buNone/>
            </a:pPr>
            <a:r>
              <a:rPr lang="en-US" sz="1700" b="1" dirty="0">
                <a:solidFill>
                  <a:srgbClr val="17201C"/>
                </a:solidFill>
                <a:latin typeface="Cambria" pitchFamily="34" charset="0"/>
                <a:ea typeface="Cambria" pitchFamily="34" charset="-122"/>
                <a:cs typeface="Cambria" pitchFamily="34" charset="-120"/>
              </a:rPr>
              <a:t>Claim</a:t>
            </a:r>
            <a:endParaRPr lang="en-US" sz="1700" dirty="0"/>
          </a:p>
        </p:txBody>
      </p:sp>
      <p:sp>
        <p:nvSpPr>
          <p:cNvPr id="27" name="Text 25"/>
          <p:cNvSpPr txBox="1"/>
          <p:nvPr/>
        </p:nvSpPr>
        <p:spPr>
          <a:xfrm>
            <a:off x="2651760" y="5074920"/>
            <a:ext cx="4114800" cy="64008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An assertion with an owner and an honest grade, which anyone may challenge.</a:t>
            </a:r>
            <a:endParaRPr lang="en-US" sz="1250" dirty="0"/>
          </a:p>
        </p:txBody>
      </p:sp>
      <p:sp>
        <p:nvSpPr>
          <p:cNvPr id="28" name="Text 26"/>
          <p:cNvSpPr txBox="1"/>
          <p:nvPr/>
        </p:nvSpPr>
        <p:spPr>
          <a:xfrm>
            <a:off x="6986016" y="5074920"/>
            <a:ext cx="4480560" cy="640080"/>
          </a:xfrm>
          <a:prstGeom prst="rect">
            <a:avLst/>
          </a:prstGeom>
          <a:noFill/>
          <a:ln/>
        </p:spPr>
        <p:txBody>
          <a:bodyPr wrap="square" lIns="0" tIns="0" rIns="0" bIns="0" rtlCol="0" anchor="t"/>
          <a:lstStyle/>
          <a:p>
            <a:pPr indent="0" marL="0">
              <a:buNone/>
            </a:pPr>
            <a:r>
              <a:rPr lang="en-US" sz="1250" i="1" dirty="0">
                <a:solidFill>
                  <a:srgbClr val="1E6B4A"/>
                </a:solidFill>
                <a:latin typeface="Calibri" pitchFamily="34" charset="0"/>
                <a:ea typeface="Calibri" pitchFamily="34" charset="-122"/>
                <a:cs typeface="Calibri" pitchFamily="34" charset="-120"/>
              </a:rPr>
              <a:t>The settling traces to SOP as the K source in this formulation.</a:t>
            </a:r>
            <a:endParaRPr lang="en-US" sz="1250" dirty="0"/>
          </a:p>
        </p:txBody>
      </p:sp>
      <p:sp>
        <p:nvSpPr>
          <p:cNvPr id="29" name="Text 27"/>
          <p:cNvSpPr txBox="1"/>
          <p:nvPr/>
        </p:nvSpPr>
        <p:spPr>
          <a:xfrm>
            <a:off x="6986016" y="1755648"/>
            <a:ext cx="2743200" cy="228600"/>
          </a:xfrm>
          <a:prstGeom prst="rect">
            <a:avLst/>
          </a:prstGeom>
          <a:noFill/>
          <a:ln/>
        </p:spPr>
        <p:txBody>
          <a:bodyPr wrap="square" lIns="0" tIns="0" rIns="0" bIns="0" rtlCol="0" anchor="ctr"/>
          <a:lstStyle/>
          <a:p>
            <a:pPr indent="0" marL="0">
              <a:buNone/>
            </a:pPr>
            <a:r>
              <a:rPr lang="en-US" sz="1000" b="1" spc="200" kern="0" dirty="0">
                <a:solidFill>
                  <a:srgbClr val="7B8781"/>
                </a:solidFill>
                <a:latin typeface="Calibri" pitchFamily="34" charset="0"/>
                <a:ea typeface="Calibri" pitchFamily="34" charset="-122"/>
                <a:cs typeface="Calibri" pitchFamily="34" charset="-120"/>
              </a:rPr>
              <a:t>IN OUR CASE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ONE REAL CASE</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V Germinator Pro, as it actually happened</a:t>
            </a:r>
            <a:endParaRPr lang="en-US" sz="3800" dirty="0"/>
          </a:p>
        </p:txBody>
      </p:sp>
      <p:sp>
        <p:nvSpPr>
          <p:cNvPr id="4" name="Shape 2"/>
          <p:cNvSpPr/>
          <p:nvPr/>
        </p:nvSpPr>
        <p:spPr>
          <a:xfrm>
            <a:off x="658368" y="2148840"/>
            <a:ext cx="3429000" cy="2331720"/>
          </a:xfrm>
          <a:prstGeom prst="roundRect">
            <a:avLst>
              <a:gd name="adj" fmla="val 2353"/>
            </a:avLst>
          </a:prstGeom>
          <a:solidFill>
            <a:srgbClr val="F3F6F4"/>
          </a:solidFill>
          <a:ln w="9525">
            <a:solidFill>
              <a:srgbClr val="DCE4DF"/>
            </a:solidFill>
            <a:prstDash val="solid"/>
          </a:ln>
        </p:spPr>
      </p:sp>
      <p:sp>
        <p:nvSpPr>
          <p:cNvPr id="5" name="Text 3"/>
          <p:cNvSpPr txBox="1"/>
          <p:nvPr/>
        </p:nvSpPr>
        <p:spPr>
          <a:xfrm>
            <a:off x="950976" y="2377440"/>
            <a:ext cx="2843784" cy="502920"/>
          </a:xfrm>
          <a:prstGeom prst="rect">
            <a:avLst/>
          </a:prstGeom>
          <a:noFill/>
          <a:ln/>
        </p:spPr>
        <p:txBody>
          <a:bodyPr wrap="square" lIns="0" tIns="0" rIns="0" bIns="0" rtlCol="0" anchor="ctr"/>
          <a:lstStyle/>
          <a:p>
            <a:pPr indent="0" marL="0">
              <a:buNone/>
            </a:pPr>
            <a:r>
              <a:rPr lang="en-US" sz="2800" b="1" dirty="0">
                <a:solidFill>
                  <a:srgbClr val="17201C"/>
                </a:solidFill>
                <a:latin typeface="Cambria" pitchFamily="34" charset="0"/>
                <a:ea typeface="Cambria" pitchFamily="34" charset="-122"/>
                <a:cs typeface="Cambria" pitchFamily="34" charset="-120"/>
              </a:rPr>
              <a:t>SOP</a:t>
            </a:r>
            <a:endParaRPr lang="en-US" sz="2800" dirty="0"/>
          </a:p>
        </p:txBody>
      </p:sp>
      <p:sp>
        <p:nvSpPr>
          <p:cNvPr id="6" name="Text 4"/>
          <p:cNvSpPr txBox="1"/>
          <p:nvPr/>
        </p:nvSpPr>
        <p:spPr>
          <a:xfrm>
            <a:off x="950976" y="2926080"/>
            <a:ext cx="2843784" cy="256032"/>
          </a:xfrm>
          <a:prstGeom prst="rect">
            <a:avLst/>
          </a:prstGeom>
          <a:noFill/>
          <a:ln/>
        </p:spPr>
        <p:txBody>
          <a:bodyPr wrap="square" lIns="0" tIns="0" rIns="0" bIns="0" rtlCol="0" anchor="ctr"/>
          <a:lstStyle/>
          <a:p>
            <a:pPr indent="0" marL="0">
              <a:buNone/>
            </a:pPr>
            <a:r>
              <a:rPr lang="en-US" sz="1050" b="1" spc="200" kern="0" dirty="0">
                <a:solidFill>
                  <a:srgbClr val="A9701A"/>
                </a:solidFill>
                <a:latin typeface="Calibri" pitchFamily="34" charset="0"/>
                <a:ea typeface="Calibri" pitchFamily="34" charset="-122"/>
                <a:cs typeface="Calibri" pitchFamily="34" charset="-120"/>
              </a:rPr>
              <a:t>KILLED</a:t>
            </a:r>
            <a:endParaRPr lang="en-US" sz="1050" dirty="0"/>
          </a:p>
        </p:txBody>
      </p:sp>
      <p:sp>
        <p:nvSpPr>
          <p:cNvPr id="7" name="Text 5"/>
          <p:cNvSpPr txBox="1"/>
          <p:nvPr/>
        </p:nvSpPr>
        <p:spPr>
          <a:xfrm>
            <a:off x="950976" y="3291840"/>
            <a:ext cx="2843784" cy="1051560"/>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Settled out and took the K₂O reading down with it. Killed on stability — not on cost, not on supply.</a:t>
            </a:r>
            <a:endParaRPr lang="en-US" sz="1300" dirty="0"/>
          </a:p>
        </p:txBody>
      </p:sp>
      <p:sp>
        <p:nvSpPr>
          <p:cNvPr id="8" name="Text 6"/>
          <p:cNvSpPr txBox="1"/>
          <p:nvPr/>
        </p:nvSpPr>
        <p:spPr>
          <a:xfrm>
            <a:off x="4096512" y="3063240"/>
            <a:ext cx="274320" cy="365760"/>
          </a:xfrm>
          <a:prstGeom prst="rect">
            <a:avLst/>
          </a:prstGeom>
          <a:noFill/>
          <a:ln/>
        </p:spPr>
        <p:txBody>
          <a:bodyPr wrap="square" lIns="0" tIns="0" rIns="0" bIns="0" rtlCol="0" anchor="ctr"/>
          <a:lstStyle/>
          <a:p>
            <a:pPr algn="ctr" indent="0" marL="0">
              <a:buNone/>
            </a:pPr>
            <a:r>
              <a:rPr lang="en-US" sz="1800" dirty="0">
                <a:solidFill>
                  <a:srgbClr val="7B8781"/>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4361688" y="2148840"/>
            <a:ext cx="3429000" cy="2331720"/>
          </a:xfrm>
          <a:prstGeom prst="roundRect">
            <a:avLst>
              <a:gd name="adj" fmla="val 2353"/>
            </a:avLst>
          </a:prstGeom>
          <a:solidFill>
            <a:srgbClr val="F3F6F4"/>
          </a:solidFill>
          <a:ln w="9525">
            <a:solidFill>
              <a:srgbClr val="DCE4DF"/>
            </a:solidFill>
            <a:prstDash val="solid"/>
          </a:ln>
        </p:spPr>
      </p:sp>
      <p:sp>
        <p:nvSpPr>
          <p:cNvPr id="10" name="Text 8"/>
          <p:cNvSpPr txBox="1"/>
          <p:nvPr/>
        </p:nvSpPr>
        <p:spPr>
          <a:xfrm>
            <a:off x="4654296" y="2377440"/>
            <a:ext cx="2843784" cy="502920"/>
          </a:xfrm>
          <a:prstGeom prst="rect">
            <a:avLst/>
          </a:prstGeom>
          <a:noFill/>
          <a:ln/>
        </p:spPr>
        <p:txBody>
          <a:bodyPr wrap="square" lIns="0" tIns="0" rIns="0" bIns="0" rtlCol="0" anchor="ctr"/>
          <a:lstStyle/>
          <a:p>
            <a:pPr indent="0" marL="0">
              <a:buNone/>
            </a:pPr>
            <a:r>
              <a:rPr lang="en-US" sz="2800" b="1" dirty="0">
                <a:solidFill>
                  <a:srgbClr val="17201C"/>
                </a:solidFill>
                <a:latin typeface="Cambria" pitchFamily="34" charset="0"/>
                <a:ea typeface="Cambria" pitchFamily="34" charset="-122"/>
                <a:cs typeface="Cambria" pitchFamily="34" charset="-120"/>
              </a:rPr>
              <a:t>KOH</a:t>
            </a:r>
            <a:endParaRPr lang="en-US" sz="2800" dirty="0"/>
          </a:p>
        </p:txBody>
      </p:sp>
      <p:sp>
        <p:nvSpPr>
          <p:cNvPr id="11" name="Text 9"/>
          <p:cNvSpPr txBox="1"/>
          <p:nvPr/>
        </p:nvSpPr>
        <p:spPr>
          <a:xfrm>
            <a:off x="4654296" y="2926080"/>
            <a:ext cx="2843784" cy="256032"/>
          </a:xfrm>
          <a:prstGeom prst="rect">
            <a:avLst/>
          </a:prstGeom>
          <a:noFill/>
          <a:ln/>
        </p:spPr>
        <p:txBody>
          <a:bodyPr wrap="square" lIns="0" tIns="0" rIns="0" bIns="0" rtlCol="0" anchor="ctr"/>
          <a:lstStyle/>
          <a:p>
            <a:pPr indent="0" marL="0">
              <a:buNone/>
            </a:pPr>
            <a:r>
              <a:rPr lang="en-US" sz="1050" b="1" spc="200" kern="0" dirty="0">
                <a:solidFill>
                  <a:srgbClr val="A9701A"/>
                </a:solidFill>
                <a:latin typeface="Calibri" pitchFamily="34" charset="0"/>
                <a:ea typeface="Calibri" pitchFamily="34" charset="-122"/>
                <a:cs typeface="Calibri" pitchFamily="34" charset="-120"/>
              </a:rPr>
              <a:t>KILLED</a:t>
            </a:r>
            <a:endParaRPr lang="en-US" sz="1050" dirty="0"/>
          </a:p>
        </p:txBody>
      </p:sp>
      <p:sp>
        <p:nvSpPr>
          <p:cNvPr id="12" name="Text 10"/>
          <p:cNvSpPr txBox="1"/>
          <p:nvPr/>
        </p:nvSpPr>
        <p:spPr>
          <a:xfrm>
            <a:off x="4654296" y="3291840"/>
            <a:ext cx="2843784" cy="1051560"/>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The settling stopped. Nitrogen fell instead, through ammonia formation. One problem traded for another.</a:t>
            </a:r>
            <a:endParaRPr lang="en-US" sz="1300" dirty="0"/>
          </a:p>
        </p:txBody>
      </p:sp>
      <p:sp>
        <p:nvSpPr>
          <p:cNvPr id="13" name="Text 11"/>
          <p:cNvSpPr txBox="1"/>
          <p:nvPr/>
        </p:nvSpPr>
        <p:spPr>
          <a:xfrm>
            <a:off x="7799832" y="3063240"/>
            <a:ext cx="274320" cy="365760"/>
          </a:xfrm>
          <a:prstGeom prst="rect">
            <a:avLst/>
          </a:prstGeom>
          <a:noFill/>
          <a:ln/>
        </p:spPr>
        <p:txBody>
          <a:bodyPr wrap="square" lIns="0" tIns="0" rIns="0" bIns="0" rtlCol="0" anchor="ctr"/>
          <a:lstStyle/>
          <a:p>
            <a:pPr algn="ctr" indent="0" marL="0">
              <a:buNone/>
            </a:pPr>
            <a:r>
              <a:rPr lang="en-US" sz="1800" dirty="0">
                <a:solidFill>
                  <a:srgbClr val="7B8781"/>
                </a:solidFill>
                <a:latin typeface="Calibri" pitchFamily="34" charset="0"/>
                <a:ea typeface="Calibri" pitchFamily="34" charset="-122"/>
                <a:cs typeface="Calibri" pitchFamily="34" charset="-120"/>
              </a:rPr>
              <a:t>→</a:t>
            </a:r>
            <a:endParaRPr lang="en-US" sz="1800" dirty="0"/>
          </a:p>
        </p:txBody>
      </p:sp>
      <p:sp>
        <p:nvSpPr>
          <p:cNvPr id="14" name="Shape 12"/>
          <p:cNvSpPr/>
          <p:nvPr/>
        </p:nvSpPr>
        <p:spPr>
          <a:xfrm>
            <a:off x="8065008" y="2148840"/>
            <a:ext cx="3429000" cy="2331720"/>
          </a:xfrm>
          <a:prstGeom prst="roundRect">
            <a:avLst>
              <a:gd name="adj" fmla="val 2353"/>
            </a:avLst>
          </a:prstGeom>
          <a:solidFill>
            <a:srgbClr val="E7F0EA"/>
          </a:solidFill>
          <a:ln w="9525">
            <a:solidFill>
              <a:srgbClr val="DCE4DF"/>
            </a:solidFill>
            <a:prstDash val="solid"/>
          </a:ln>
        </p:spPr>
      </p:sp>
      <p:sp>
        <p:nvSpPr>
          <p:cNvPr id="15" name="Text 13"/>
          <p:cNvSpPr txBox="1"/>
          <p:nvPr/>
        </p:nvSpPr>
        <p:spPr>
          <a:xfrm>
            <a:off x="8357616" y="2377440"/>
            <a:ext cx="2843784" cy="502920"/>
          </a:xfrm>
          <a:prstGeom prst="rect">
            <a:avLst/>
          </a:prstGeom>
          <a:noFill/>
          <a:ln/>
        </p:spPr>
        <p:txBody>
          <a:bodyPr wrap="square" lIns="0" tIns="0" rIns="0" bIns="0" rtlCol="0" anchor="ctr"/>
          <a:lstStyle/>
          <a:p>
            <a:pPr indent="0" marL="0">
              <a:buNone/>
            </a:pPr>
            <a:r>
              <a:rPr lang="en-US" sz="2800" b="1" dirty="0">
                <a:solidFill>
                  <a:srgbClr val="17201C"/>
                </a:solidFill>
                <a:latin typeface="Cambria" pitchFamily="34" charset="0"/>
                <a:ea typeface="Cambria" pitchFamily="34" charset="-122"/>
                <a:cs typeface="Cambria" pitchFamily="34" charset="-120"/>
              </a:rPr>
              <a:t>K₂CO₃</a:t>
            </a:r>
            <a:endParaRPr lang="en-US" sz="2800" dirty="0"/>
          </a:p>
        </p:txBody>
      </p:sp>
      <p:sp>
        <p:nvSpPr>
          <p:cNvPr id="16" name="Text 14"/>
          <p:cNvSpPr txBox="1"/>
          <p:nvPr/>
        </p:nvSpPr>
        <p:spPr>
          <a:xfrm>
            <a:off x="8357616" y="2926080"/>
            <a:ext cx="2843784" cy="256032"/>
          </a:xfrm>
          <a:prstGeom prst="rect">
            <a:avLst/>
          </a:prstGeom>
          <a:noFill/>
          <a:ln/>
        </p:spPr>
        <p:txBody>
          <a:bodyPr wrap="square" lIns="0" tIns="0" rIns="0" bIns="0" rtlCol="0" anchor="ctr"/>
          <a:lstStyle/>
          <a:p>
            <a:pPr indent="0" marL="0">
              <a:buNone/>
            </a:pPr>
            <a:r>
              <a:rPr lang="en-US" sz="1050" b="1" spc="200" kern="0" dirty="0">
                <a:solidFill>
                  <a:srgbClr val="1E6B4A"/>
                </a:solidFill>
                <a:latin typeface="Calibri" pitchFamily="34" charset="0"/>
                <a:ea typeface="Calibri" pitchFamily="34" charset="-122"/>
                <a:cs typeface="Calibri" pitchFamily="34" charset="-120"/>
              </a:rPr>
              <a:t>RUNNING</a:t>
            </a:r>
            <a:endParaRPr lang="en-US" sz="1050" dirty="0"/>
          </a:p>
        </p:txBody>
      </p:sp>
      <p:sp>
        <p:nvSpPr>
          <p:cNvPr id="17" name="Text 15"/>
          <p:cNvSpPr txBox="1"/>
          <p:nvPr/>
        </p:nvSpPr>
        <p:spPr>
          <a:xfrm>
            <a:off x="8357616" y="3291840"/>
            <a:ext cx="2843784" cy="1051560"/>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Less alkaline than KOH, and not the salt that settled. Under stability observation now — with the reasoning written down this time.</a:t>
            </a:r>
            <a:endParaRPr lang="en-US" sz="1300" dirty="0"/>
          </a:p>
        </p:txBody>
      </p:sp>
      <p:sp>
        <p:nvSpPr>
          <p:cNvPr id="18" name="Text 16"/>
          <p:cNvSpPr txBox="1"/>
          <p:nvPr/>
        </p:nvSpPr>
        <p:spPr>
          <a:xfrm>
            <a:off x="658368" y="4846320"/>
            <a:ext cx="10881360" cy="457200"/>
          </a:xfrm>
          <a:prstGeom prst="rect">
            <a:avLst/>
          </a:prstGeom>
          <a:noFill/>
          <a:ln/>
        </p:spPr>
        <p:txBody>
          <a:bodyPr wrap="square" lIns="0" tIns="0" rIns="0" bIns="0" rtlCol="0" anchor="ctr"/>
          <a:lstStyle/>
          <a:p>
            <a:pPr indent="0" marL="0">
              <a:buNone/>
            </a:pPr>
            <a:r>
              <a:rPr lang="en-US" sz="1550" i="1" dirty="0">
                <a:solidFill>
                  <a:srgbClr val="48544E"/>
                </a:solidFill>
                <a:latin typeface="Calibri" pitchFamily="34" charset="0"/>
                <a:ea typeface="Calibri" pitchFamily="34" charset="-122"/>
                <a:cs typeface="Calibri" pitchFamily="34" charset="-120"/>
              </a:rPr>
              <a:t>Two dead ends, written down. That is the asset — it stops the same two routes being walked again next year.</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THE ONE HARD HABIT</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Say what would kill it, before you make it</a:t>
            </a:r>
            <a:endParaRPr lang="en-US" sz="3800" dirty="0"/>
          </a:p>
        </p:txBody>
      </p:sp>
      <p:sp>
        <p:nvSpPr>
          <p:cNvPr id="4" name="Shape 2"/>
          <p:cNvSpPr/>
          <p:nvPr/>
        </p:nvSpPr>
        <p:spPr>
          <a:xfrm>
            <a:off x="658368" y="2148840"/>
            <a:ext cx="5285232" cy="2148840"/>
          </a:xfrm>
          <a:prstGeom prst="roundRect">
            <a:avLst>
              <a:gd name="adj" fmla="val 2553"/>
            </a:avLst>
          </a:prstGeom>
          <a:solidFill>
            <a:srgbClr val="FAF0DC"/>
          </a:solidFill>
          <a:ln w="9525">
            <a:solidFill>
              <a:srgbClr val="DCE4DF"/>
            </a:solidFill>
            <a:prstDash val="solid"/>
          </a:ln>
        </p:spPr>
      </p:sp>
      <p:sp>
        <p:nvSpPr>
          <p:cNvPr id="5" name="Text 3"/>
          <p:cNvSpPr txBox="1"/>
          <p:nvPr/>
        </p:nvSpPr>
        <p:spPr>
          <a:xfrm>
            <a:off x="1042416" y="2395728"/>
            <a:ext cx="4480560" cy="256032"/>
          </a:xfrm>
          <a:prstGeom prst="rect">
            <a:avLst/>
          </a:prstGeom>
          <a:noFill/>
          <a:ln/>
        </p:spPr>
        <p:txBody>
          <a:bodyPr wrap="square" lIns="0" tIns="0" rIns="0" bIns="0" rtlCol="0" anchor="ctr"/>
          <a:lstStyle/>
          <a:p>
            <a:pPr indent="0" marL="0">
              <a:buNone/>
            </a:pPr>
            <a:r>
              <a:rPr lang="en-US" sz="1050" b="1" spc="200" kern="0" dirty="0">
                <a:solidFill>
                  <a:srgbClr val="A9701A"/>
                </a:solidFill>
                <a:latin typeface="Calibri" pitchFamily="34" charset="0"/>
                <a:ea typeface="Calibri" pitchFamily="34" charset="-122"/>
                <a:cs typeface="Calibri" pitchFamily="34" charset="-120"/>
              </a:rPr>
              <a:t>WITHOUT IT</a:t>
            </a:r>
            <a:endParaRPr lang="en-US" sz="1050" dirty="0"/>
          </a:p>
        </p:txBody>
      </p:sp>
      <p:sp>
        <p:nvSpPr>
          <p:cNvPr id="6" name="Text 4"/>
          <p:cNvSpPr txBox="1"/>
          <p:nvPr/>
        </p:nvSpPr>
        <p:spPr>
          <a:xfrm>
            <a:off x="1042416" y="2743200"/>
            <a:ext cx="4553712" cy="1325880"/>
          </a:xfrm>
          <a:prstGeom prst="rect">
            <a:avLst/>
          </a:prstGeom>
          <a:noFill/>
          <a:ln/>
        </p:spPr>
        <p:txBody>
          <a:bodyPr wrap="square" lIns="0" tIns="0" rIns="0" bIns="0" rtlCol="0" anchor="t"/>
          <a:lstStyle/>
          <a:p>
            <a:pPr indent="0" marL="0">
              <a:buNone/>
            </a:pPr>
            <a:r>
              <a:rPr lang="en-US" sz="1500" dirty="0">
                <a:solidFill>
                  <a:srgbClr val="17201C"/>
                </a:solidFill>
                <a:latin typeface="Calibri" pitchFamily="34" charset="0"/>
                <a:ea typeface="Calibri" pitchFamily="34" charset="-122"/>
                <a:cs typeface="Calibri" pitchFamily="34" charset="-120"/>
              </a:rPr>
              <a:t>The trial runs. Something goes a bit wrong. Everyone argues about whether that counts as a failure, and the person who wanted it to work usually wins.</a:t>
            </a:r>
            <a:endParaRPr lang="en-US" sz="1500" dirty="0"/>
          </a:p>
        </p:txBody>
      </p:sp>
      <p:sp>
        <p:nvSpPr>
          <p:cNvPr id="7" name="Shape 5"/>
          <p:cNvSpPr/>
          <p:nvPr/>
        </p:nvSpPr>
        <p:spPr>
          <a:xfrm>
            <a:off x="6217920" y="2148840"/>
            <a:ext cx="5285232" cy="2148840"/>
          </a:xfrm>
          <a:prstGeom prst="roundRect">
            <a:avLst>
              <a:gd name="adj" fmla="val 2553"/>
            </a:avLst>
          </a:prstGeom>
          <a:solidFill>
            <a:srgbClr val="E7F0EA"/>
          </a:solidFill>
          <a:ln w="9525">
            <a:solidFill>
              <a:srgbClr val="DCE4DF"/>
            </a:solidFill>
            <a:prstDash val="solid"/>
          </a:ln>
        </p:spPr>
      </p:sp>
      <p:sp>
        <p:nvSpPr>
          <p:cNvPr id="8" name="Text 6"/>
          <p:cNvSpPr txBox="1"/>
          <p:nvPr/>
        </p:nvSpPr>
        <p:spPr>
          <a:xfrm>
            <a:off x="6601968" y="2395728"/>
            <a:ext cx="4480560" cy="256032"/>
          </a:xfrm>
          <a:prstGeom prst="rect">
            <a:avLst/>
          </a:prstGeom>
          <a:noFill/>
          <a:ln/>
        </p:spPr>
        <p:txBody>
          <a:bodyPr wrap="square" lIns="0" tIns="0" rIns="0" bIns="0" rtlCol="0" anchor="ctr"/>
          <a:lstStyle/>
          <a:p>
            <a:pPr indent="0" marL="0">
              <a:buNone/>
            </a:pPr>
            <a:r>
              <a:rPr lang="en-US" sz="1050" b="1" spc="200" kern="0" dirty="0">
                <a:solidFill>
                  <a:srgbClr val="1E6B4A"/>
                </a:solidFill>
                <a:latin typeface="Calibri" pitchFamily="34" charset="0"/>
                <a:ea typeface="Calibri" pitchFamily="34" charset="-122"/>
                <a:cs typeface="Calibri" pitchFamily="34" charset="-120"/>
              </a:rPr>
              <a:t>WITH IT</a:t>
            </a:r>
            <a:endParaRPr lang="en-US" sz="1050" dirty="0"/>
          </a:p>
        </p:txBody>
      </p:sp>
      <p:sp>
        <p:nvSpPr>
          <p:cNvPr id="9" name="Text 7"/>
          <p:cNvSpPr txBox="1"/>
          <p:nvPr/>
        </p:nvSpPr>
        <p:spPr>
          <a:xfrm>
            <a:off x="6601968" y="2743200"/>
            <a:ext cx="4553712" cy="1325880"/>
          </a:xfrm>
          <a:prstGeom prst="rect">
            <a:avLst/>
          </a:prstGeom>
          <a:noFill/>
          <a:ln/>
        </p:spPr>
        <p:txBody>
          <a:bodyPr wrap="square" lIns="0" tIns="0" rIns="0" bIns="0" rtlCol="0" anchor="t"/>
          <a:lstStyle/>
          <a:p>
            <a:pPr indent="0" marL="0">
              <a:buNone/>
            </a:pPr>
            <a:r>
              <a:rPr lang="en-US" sz="1500" dirty="0">
                <a:solidFill>
                  <a:srgbClr val="17201C"/>
                </a:solidFill>
                <a:latin typeface="Calibri" pitchFamily="34" charset="0"/>
                <a:ea typeface="Calibri" pitchFamily="34" charset="-122"/>
                <a:cs typeface="Calibri" pitchFamily="34" charset="-120"/>
              </a:rPr>
              <a:t>“Ends if white material settles, or measured K₂O falls, inside one month.” The bench work then answers a question instead of settling an argument.</a:t>
            </a:r>
            <a:endParaRPr lang="en-US" sz="1500" dirty="0"/>
          </a:p>
        </p:txBody>
      </p:sp>
      <p:sp>
        <p:nvSpPr>
          <p:cNvPr id="10" name="Text 8"/>
          <p:cNvSpPr txBox="1"/>
          <p:nvPr/>
        </p:nvSpPr>
        <p:spPr>
          <a:xfrm>
            <a:off x="658368" y="4754880"/>
            <a:ext cx="10881360" cy="457200"/>
          </a:xfrm>
          <a:prstGeom prst="rect">
            <a:avLst/>
          </a:prstGeom>
          <a:noFill/>
          <a:ln/>
        </p:spPr>
        <p:txBody>
          <a:bodyPr wrap="square" lIns="0" tIns="0" rIns="0" bIns="0" rtlCol="0" anchor="ctr"/>
          <a:lstStyle/>
          <a:p>
            <a:pPr indent="0" marL="0">
              <a:buNone/>
            </a:pPr>
            <a:r>
              <a:rPr lang="en-US" sz="1550" dirty="0">
                <a:solidFill>
                  <a:srgbClr val="48544E"/>
                </a:solidFill>
                <a:latin typeface="Calibri" pitchFamily="34" charset="0"/>
                <a:ea typeface="Calibri" pitchFamily="34" charset="-122"/>
                <a:cs typeface="Calibri" pitchFamily="34" charset="-120"/>
              </a:rPr>
              <a:t>This is the only part of PD that asks for real discipline. Everything else is just writing down what you already did.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WHAT A RUN HOLDS</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Expected, actual, and the dates in between</a:t>
            </a:r>
            <a:endParaRPr lang="en-US" sz="3800" dirty="0"/>
          </a:p>
        </p:txBody>
      </p:sp>
      <p:sp>
        <p:nvSpPr>
          <p:cNvPr id="4" name="Shape 2"/>
          <p:cNvSpPr/>
          <p:nvPr/>
        </p:nvSpPr>
        <p:spPr>
          <a:xfrm>
            <a:off x="658368" y="2103120"/>
            <a:ext cx="10835640" cy="2514600"/>
          </a:xfrm>
          <a:prstGeom prst="roundRect">
            <a:avLst>
              <a:gd name="adj" fmla="val 2182"/>
            </a:avLst>
          </a:prstGeom>
          <a:solidFill>
            <a:srgbClr val="F3F6F4"/>
          </a:solidFill>
          <a:ln w="9525">
            <a:solidFill>
              <a:srgbClr val="DCE4DF"/>
            </a:solidFill>
            <a:prstDash val="solid"/>
          </a:ln>
        </p:spPr>
      </p:sp>
      <p:sp>
        <p:nvSpPr>
          <p:cNvPr id="5" name="Text 3"/>
          <p:cNvSpPr txBox="1"/>
          <p:nvPr/>
        </p:nvSpPr>
        <p:spPr>
          <a:xfrm>
            <a:off x="1024128" y="2377440"/>
            <a:ext cx="1600200" cy="310896"/>
          </a:xfrm>
          <a:prstGeom prst="rect">
            <a:avLst/>
          </a:prstGeom>
          <a:noFill/>
          <a:ln/>
        </p:spPr>
        <p:txBody>
          <a:bodyPr wrap="square" lIns="0" tIns="0" rIns="0" bIns="0" rtlCol="0" anchor="ctr"/>
          <a:lstStyle/>
          <a:p>
            <a:pPr indent="0" marL="0">
              <a:buNone/>
            </a:pPr>
            <a:r>
              <a:rPr lang="en-US" sz="1300" b="1" dirty="0">
                <a:solidFill>
                  <a:srgbClr val="48544E"/>
                </a:solidFill>
                <a:latin typeface="Calibri" pitchFamily="34" charset="0"/>
                <a:ea typeface="Calibri" pitchFamily="34" charset="-122"/>
                <a:cs typeface="Calibri" pitchFamily="34" charset="-120"/>
              </a:rPr>
              <a:t>Expected</a:t>
            </a:r>
            <a:endParaRPr lang="en-US" sz="1300" dirty="0"/>
          </a:p>
        </p:txBody>
      </p:sp>
      <p:sp>
        <p:nvSpPr>
          <p:cNvPr id="6" name="Text 4"/>
          <p:cNvSpPr txBox="1"/>
          <p:nvPr/>
        </p:nvSpPr>
        <p:spPr>
          <a:xfrm>
            <a:off x="2715768" y="2377440"/>
            <a:ext cx="8366760" cy="38404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No settling and no drop in measured K₂O over a month under stability observation.</a:t>
            </a:r>
            <a:endParaRPr lang="en-US" sz="1300" dirty="0"/>
          </a:p>
        </p:txBody>
      </p:sp>
      <p:sp>
        <p:nvSpPr>
          <p:cNvPr id="7" name="Text 5"/>
          <p:cNvSpPr txBox="1"/>
          <p:nvPr/>
        </p:nvSpPr>
        <p:spPr>
          <a:xfrm>
            <a:off x="1024128" y="2816352"/>
            <a:ext cx="1600200" cy="310896"/>
          </a:xfrm>
          <a:prstGeom prst="rect">
            <a:avLst/>
          </a:prstGeom>
          <a:noFill/>
          <a:ln/>
        </p:spPr>
        <p:txBody>
          <a:bodyPr wrap="square" lIns="0" tIns="0" rIns="0" bIns="0" rtlCol="0" anchor="ctr"/>
          <a:lstStyle/>
          <a:p>
            <a:pPr indent="0" marL="0">
              <a:buNone/>
            </a:pPr>
            <a:r>
              <a:rPr lang="en-US" sz="1300" b="1" dirty="0">
                <a:solidFill>
                  <a:srgbClr val="7B8781"/>
                </a:solidFill>
                <a:latin typeface="Calibri" pitchFamily="34" charset="0"/>
                <a:ea typeface="Calibri" pitchFamily="34" charset="-122"/>
                <a:cs typeface="Calibri" pitchFamily="34" charset="-120"/>
              </a:rPr>
              <a:t>10 Jun 2026</a:t>
            </a:r>
            <a:endParaRPr lang="en-US" sz="1300" dirty="0"/>
          </a:p>
        </p:txBody>
      </p:sp>
      <p:sp>
        <p:nvSpPr>
          <p:cNvPr id="8" name="Text 6"/>
          <p:cNvSpPr txBox="1"/>
          <p:nvPr/>
        </p:nvSpPr>
        <p:spPr>
          <a:xfrm>
            <a:off x="2715768" y="2816352"/>
            <a:ext cx="8366760" cy="384048"/>
          </a:xfrm>
          <a:prstGeom prst="rect">
            <a:avLst/>
          </a:prstGeom>
          <a:noFill/>
          <a:ln/>
        </p:spPr>
        <p:txBody>
          <a:bodyPr wrap="square" lIns="0" tIns="0" rIns="0" bIns="0" rtlCol="0" anchor="t"/>
          <a:lstStyle/>
          <a:p>
            <a:pPr indent="0" marL="0">
              <a:buNone/>
            </a:pPr>
            <a:r>
              <a:rPr lang="en-US" sz="1300" dirty="0">
                <a:solidFill>
                  <a:srgbClr val="7B8781"/>
                </a:solidFill>
                <a:latin typeface="Calibri" pitchFamily="34" charset="0"/>
                <a:ea typeface="Calibri" pitchFamily="34" charset="-122"/>
                <a:cs typeface="Calibri" pitchFamily="34" charset="-120"/>
              </a:rPr>
              <a:t>Clear. No settling, no visible degradation.  ·  nothing unexpected</a:t>
            </a:r>
            <a:endParaRPr lang="en-US" sz="1300" dirty="0"/>
          </a:p>
        </p:txBody>
      </p:sp>
      <p:sp>
        <p:nvSpPr>
          <p:cNvPr id="9" name="Text 7"/>
          <p:cNvSpPr txBox="1"/>
          <p:nvPr/>
        </p:nvSpPr>
        <p:spPr>
          <a:xfrm>
            <a:off x="1024128" y="3255264"/>
            <a:ext cx="1600200" cy="310896"/>
          </a:xfrm>
          <a:prstGeom prst="rect">
            <a:avLst/>
          </a:prstGeom>
          <a:noFill/>
          <a:ln/>
        </p:spPr>
        <p:txBody>
          <a:bodyPr wrap="square" lIns="0" tIns="0" rIns="0" bIns="0" rtlCol="0" anchor="ctr"/>
          <a:lstStyle/>
          <a:p>
            <a:pPr indent="0" marL="0">
              <a:buNone/>
            </a:pPr>
            <a:r>
              <a:rPr lang="en-US" sz="1300" b="1" dirty="0">
                <a:solidFill>
                  <a:srgbClr val="A9701A"/>
                </a:solidFill>
                <a:latin typeface="Calibri" pitchFamily="34" charset="0"/>
                <a:ea typeface="Calibri" pitchFamily="34" charset="-122"/>
                <a:cs typeface="Calibri" pitchFamily="34" charset="-120"/>
              </a:rPr>
              <a:t>8 Jul 2026</a:t>
            </a:r>
            <a:endParaRPr lang="en-US" sz="1300" dirty="0"/>
          </a:p>
        </p:txBody>
      </p:sp>
      <p:sp>
        <p:nvSpPr>
          <p:cNvPr id="10" name="Text 8"/>
          <p:cNvSpPr txBox="1"/>
          <p:nvPr/>
        </p:nvSpPr>
        <p:spPr>
          <a:xfrm>
            <a:off x="2715768" y="3255264"/>
            <a:ext cx="8366760" cy="38404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White material settled at the bottom of the sample bottle. K₂O below the formulated figure.  ·  something abnormal</a:t>
            </a:r>
            <a:endParaRPr lang="en-US" sz="1300" dirty="0"/>
          </a:p>
        </p:txBody>
      </p:sp>
      <p:sp>
        <p:nvSpPr>
          <p:cNvPr id="11" name="Text 9"/>
          <p:cNvSpPr txBox="1"/>
          <p:nvPr/>
        </p:nvSpPr>
        <p:spPr>
          <a:xfrm>
            <a:off x="1024128" y="3694176"/>
            <a:ext cx="1600200" cy="310896"/>
          </a:xfrm>
          <a:prstGeom prst="rect">
            <a:avLst/>
          </a:prstGeom>
          <a:noFill/>
          <a:ln/>
        </p:spPr>
        <p:txBody>
          <a:bodyPr wrap="square" lIns="0" tIns="0" rIns="0" bIns="0" rtlCol="0" anchor="ctr"/>
          <a:lstStyle/>
          <a:p>
            <a:pPr indent="0" marL="0">
              <a:buNone/>
            </a:pPr>
            <a:r>
              <a:rPr lang="en-US" sz="1300" b="1" dirty="0">
                <a:solidFill>
                  <a:srgbClr val="48544E"/>
                </a:solidFill>
                <a:latin typeface="Calibri" pitchFamily="34" charset="0"/>
                <a:ea typeface="Calibri" pitchFamily="34" charset="-122"/>
                <a:cs typeface="Calibri" pitchFamily="34" charset="-120"/>
              </a:rPr>
              <a:t>Actual</a:t>
            </a:r>
            <a:endParaRPr lang="en-US" sz="1300" dirty="0"/>
          </a:p>
        </p:txBody>
      </p:sp>
      <p:sp>
        <p:nvSpPr>
          <p:cNvPr id="12" name="Text 10"/>
          <p:cNvSpPr txBox="1"/>
          <p:nvPr/>
        </p:nvSpPr>
        <p:spPr>
          <a:xfrm>
            <a:off x="2715768" y="3694176"/>
            <a:ext cx="8366760" cy="38404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White material settled after about a month, and measured K₂O fell with it.</a:t>
            </a:r>
            <a:endParaRPr lang="en-US" sz="1300" dirty="0"/>
          </a:p>
        </p:txBody>
      </p:sp>
      <p:sp>
        <p:nvSpPr>
          <p:cNvPr id="13" name="Text 11"/>
          <p:cNvSpPr txBox="1"/>
          <p:nvPr/>
        </p:nvSpPr>
        <p:spPr>
          <a:xfrm>
            <a:off x="1024128" y="4133088"/>
            <a:ext cx="1600200" cy="310896"/>
          </a:xfrm>
          <a:prstGeom prst="rect">
            <a:avLst/>
          </a:prstGeom>
          <a:noFill/>
          <a:ln/>
        </p:spPr>
        <p:txBody>
          <a:bodyPr wrap="square" lIns="0" tIns="0" rIns="0" bIns="0" rtlCol="0" anchor="ctr"/>
          <a:lstStyle/>
          <a:p>
            <a:pPr indent="0" marL="0">
              <a:buNone/>
            </a:pPr>
            <a:r>
              <a:rPr lang="en-US" sz="1300" b="1" dirty="0">
                <a:solidFill>
                  <a:srgbClr val="1E6B4A"/>
                </a:solidFill>
                <a:latin typeface="Calibri" pitchFamily="34" charset="0"/>
                <a:ea typeface="Calibri" pitchFamily="34" charset="-122"/>
                <a:cs typeface="Calibri" pitchFamily="34" charset="-120"/>
              </a:rPr>
              <a:t>Result</a:t>
            </a:r>
            <a:endParaRPr lang="en-US" sz="1300" dirty="0"/>
          </a:p>
        </p:txBody>
      </p:sp>
      <p:sp>
        <p:nvSpPr>
          <p:cNvPr id="14" name="Text 12"/>
          <p:cNvSpPr txBox="1"/>
          <p:nvPr/>
        </p:nvSpPr>
        <p:spPr>
          <a:xfrm>
            <a:off x="2715768" y="4133088"/>
            <a:ext cx="8366760" cy="38404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The settling and the K₂O loss both trace to SOP as the K source in this formulation.</a:t>
            </a:r>
            <a:endParaRPr lang="en-US" sz="1300" dirty="0"/>
          </a:p>
        </p:txBody>
      </p:sp>
      <p:sp>
        <p:nvSpPr>
          <p:cNvPr id="15" name="Text 13"/>
          <p:cNvSpPr txBox="1"/>
          <p:nvPr/>
        </p:nvSpPr>
        <p:spPr>
          <a:xfrm>
            <a:off x="658368" y="4937760"/>
            <a:ext cx="10881360" cy="457200"/>
          </a:xfrm>
          <a:prstGeom prst="rect">
            <a:avLst/>
          </a:prstGeom>
          <a:noFill/>
          <a:ln/>
        </p:spPr>
        <p:txBody>
          <a:bodyPr wrap="square" lIns="0" tIns="0" rIns="0" bIns="0" rtlCol="0" anchor="ctr"/>
          <a:lstStyle/>
          <a:p>
            <a:pPr indent="0" marL="0">
              <a:buNone/>
            </a:pPr>
            <a:r>
              <a:rPr lang="en-US" sz="1550" dirty="0">
                <a:solidFill>
                  <a:srgbClr val="48544E"/>
                </a:solidFill>
                <a:latin typeface="Calibri" pitchFamily="34" charset="0"/>
                <a:ea typeface="Calibri" pitchFamily="34" charset="-122"/>
                <a:cs typeface="Calibri" pitchFamily="34" charset="-120"/>
              </a:rPr>
              <a:t>A Run cannot be closed without the last two lines. That refusal is the second rule doing its job.</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THE MOST VALUABLE RECORD WE HAVE</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A belief we held, and then disproved</a:t>
            </a:r>
            <a:endParaRPr lang="en-US" sz="3800" dirty="0"/>
          </a:p>
        </p:txBody>
      </p:sp>
      <p:sp>
        <p:nvSpPr>
          <p:cNvPr id="4" name="Shape 2"/>
          <p:cNvSpPr/>
          <p:nvPr/>
        </p:nvSpPr>
        <p:spPr>
          <a:xfrm>
            <a:off x="658368" y="2185416"/>
            <a:ext cx="384048" cy="384048"/>
          </a:xfrm>
          <a:prstGeom prst="ellipse">
            <a:avLst/>
          </a:prstGeom>
          <a:solidFill>
            <a:srgbClr val="7B8781"/>
          </a:solidFill>
          <a:ln w="12700">
            <a:solidFill>
              <a:srgbClr val="7B8781"/>
            </a:solidFill>
            <a:prstDash val="solid"/>
          </a:ln>
        </p:spPr>
      </p:sp>
      <p:sp>
        <p:nvSpPr>
          <p:cNvPr id="5" name="Text 3"/>
          <p:cNvSpPr txBox="1"/>
          <p:nvPr/>
        </p:nvSpPr>
        <p:spPr>
          <a:xfrm>
            <a:off x="658368" y="2185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225296" y="2167128"/>
            <a:ext cx="1371600" cy="256032"/>
          </a:xfrm>
          <a:prstGeom prst="rect">
            <a:avLst/>
          </a:prstGeom>
          <a:noFill/>
          <a:ln/>
        </p:spPr>
        <p:txBody>
          <a:bodyPr wrap="square" lIns="0" tIns="0" rIns="0" bIns="0" rtlCol="0" anchor="ctr"/>
          <a:lstStyle/>
          <a:p>
            <a:pPr indent="0" marL="0">
              <a:buNone/>
            </a:pPr>
            <a:r>
              <a:rPr lang="en-US" sz="1050" b="1" spc="200" kern="0" dirty="0">
                <a:solidFill>
                  <a:srgbClr val="7B8781"/>
                </a:solidFill>
                <a:latin typeface="Calibri" pitchFamily="34" charset="0"/>
                <a:ea typeface="Calibri" pitchFamily="34" charset="-122"/>
                <a:cs typeface="Calibri" pitchFamily="34" charset="-120"/>
              </a:rPr>
              <a:t>BELIEVED</a:t>
            </a:r>
            <a:endParaRPr lang="en-US" sz="1050" dirty="0"/>
          </a:p>
        </p:txBody>
      </p:sp>
      <p:sp>
        <p:nvSpPr>
          <p:cNvPr id="7" name="Text 5"/>
          <p:cNvSpPr txBox="1"/>
          <p:nvPr/>
        </p:nvSpPr>
        <p:spPr>
          <a:xfrm>
            <a:off x="2715768" y="2093976"/>
            <a:ext cx="4572000" cy="777240"/>
          </a:xfrm>
          <a:prstGeom prst="rect">
            <a:avLst/>
          </a:prstGeom>
          <a:noFill/>
          <a:ln/>
        </p:spPr>
        <p:txBody>
          <a:bodyPr wrap="square" lIns="0" tIns="0" rIns="0" bIns="0" rtlCol="0" anchor="t"/>
          <a:lstStyle/>
          <a:p>
            <a:pPr indent="0" marL="0">
              <a:buNone/>
            </a:pPr>
            <a:r>
              <a:rPr lang="en-US" sz="1600" b="1" dirty="0">
                <a:solidFill>
                  <a:srgbClr val="17201C"/>
                </a:solidFill>
                <a:latin typeface="Cambria" pitchFamily="34" charset="0"/>
                <a:ea typeface="Cambria" pitchFamily="34" charset="-122"/>
                <a:cs typeface="Cambria" pitchFamily="34" charset="-120"/>
              </a:rPr>
              <a:t>“Fermentation should not occur at such a low pH.”</a:t>
            </a:r>
            <a:endParaRPr lang="en-US" sz="1600" dirty="0"/>
          </a:p>
        </p:txBody>
      </p:sp>
      <p:sp>
        <p:nvSpPr>
          <p:cNvPr id="8" name="Text 6"/>
          <p:cNvSpPr txBox="1"/>
          <p:nvPr/>
        </p:nvSpPr>
        <p:spPr>
          <a:xfrm>
            <a:off x="7470648" y="2130552"/>
            <a:ext cx="4023360" cy="77724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It was written down as a Claim, graded believed — held on experience, not measured.</a:t>
            </a:r>
            <a:endParaRPr lang="en-US" sz="1250" dirty="0"/>
          </a:p>
        </p:txBody>
      </p:sp>
      <p:sp>
        <p:nvSpPr>
          <p:cNvPr id="9" name="Shape 7"/>
          <p:cNvSpPr/>
          <p:nvPr/>
        </p:nvSpPr>
        <p:spPr>
          <a:xfrm>
            <a:off x="658368" y="3118104"/>
            <a:ext cx="384048" cy="384048"/>
          </a:xfrm>
          <a:prstGeom prst="ellipse">
            <a:avLst/>
          </a:prstGeom>
          <a:solidFill>
            <a:srgbClr val="7B8781"/>
          </a:solidFill>
          <a:ln w="12700">
            <a:solidFill>
              <a:srgbClr val="7B8781"/>
            </a:solidFill>
            <a:prstDash val="solid"/>
          </a:ln>
        </p:spPr>
      </p:sp>
      <p:sp>
        <p:nvSpPr>
          <p:cNvPr id="10" name="Text 8"/>
          <p:cNvSpPr txBox="1"/>
          <p:nvPr/>
        </p:nvSpPr>
        <p:spPr>
          <a:xfrm>
            <a:off x="658368" y="311810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25296" y="3099816"/>
            <a:ext cx="1371600" cy="256032"/>
          </a:xfrm>
          <a:prstGeom prst="rect">
            <a:avLst/>
          </a:prstGeom>
          <a:noFill/>
          <a:ln/>
        </p:spPr>
        <p:txBody>
          <a:bodyPr wrap="square" lIns="0" tIns="0" rIns="0" bIns="0" rtlCol="0" anchor="ctr"/>
          <a:lstStyle/>
          <a:p>
            <a:pPr indent="0" marL="0">
              <a:buNone/>
            </a:pPr>
            <a:r>
              <a:rPr lang="en-US" sz="1050" b="1" spc="200" kern="0" dirty="0">
                <a:solidFill>
                  <a:srgbClr val="7B8781"/>
                </a:solidFill>
                <a:latin typeface="Calibri" pitchFamily="34" charset="0"/>
                <a:ea typeface="Calibri" pitchFamily="34" charset="-122"/>
                <a:cs typeface="Calibri" pitchFamily="34" charset="-120"/>
              </a:rPr>
              <a:t>TESTED</a:t>
            </a:r>
            <a:endParaRPr lang="en-US" sz="1050" dirty="0"/>
          </a:p>
        </p:txBody>
      </p:sp>
      <p:sp>
        <p:nvSpPr>
          <p:cNvPr id="12" name="Text 10"/>
          <p:cNvSpPr txBox="1"/>
          <p:nvPr/>
        </p:nvSpPr>
        <p:spPr>
          <a:xfrm>
            <a:off x="2715768" y="3026664"/>
            <a:ext cx="4572000" cy="777240"/>
          </a:xfrm>
          <a:prstGeom prst="rect">
            <a:avLst/>
          </a:prstGeom>
          <a:noFill/>
          <a:ln/>
        </p:spPr>
        <p:txBody>
          <a:bodyPr wrap="square" lIns="0" tIns="0" rIns="0" bIns="0" rtlCol="0" anchor="t"/>
          <a:lstStyle/>
          <a:p>
            <a:pPr indent="0" marL="0">
              <a:buNone/>
            </a:pPr>
            <a:r>
              <a:rPr lang="en-US" sz="1600" b="1" dirty="0">
                <a:solidFill>
                  <a:srgbClr val="17201C"/>
                </a:solidFill>
                <a:latin typeface="Cambria" pitchFamily="34" charset="0"/>
                <a:ea typeface="Cambria" pitchFamily="34" charset="-122"/>
                <a:cs typeface="Cambria" pitchFamily="34" charset="-120"/>
              </a:rPr>
              <a:t>A sealed bottle was left under observation.</a:t>
            </a:r>
            <a:endParaRPr lang="en-US" sz="1600" dirty="0"/>
          </a:p>
        </p:txBody>
      </p:sp>
      <p:sp>
        <p:nvSpPr>
          <p:cNvPr id="13" name="Text 11"/>
          <p:cNvSpPr txBox="1"/>
          <p:nvPr/>
        </p:nvSpPr>
        <p:spPr>
          <a:xfrm>
            <a:off x="7470648" y="3063240"/>
            <a:ext cx="4023360" cy="77724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The seal swelled.</a:t>
            </a:r>
            <a:endParaRPr lang="en-US" sz="1250" dirty="0"/>
          </a:p>
        </p:txBody>
      </p:sp>
      <p:sp>
        <p:nvSpPr>
          <p:cNvPr id="14" name="Shape 12"/>
          <p:cNvSpPr/>
          <p:nvPr/>
        </p:nvSpPr>
        <p:spPr>
          <a:xfrm>
            <a:off x="658368" y="4050792"/>
            <a:ext cx="384048" cy="384048"/>
          </a:xfrm>
          <a:prstGeom prst="ellipse">
            <a:avLst/>
          </a:prstGeom>
          <a:solidFill>
            <a:srgbClr val="1E6B4A"/>
          </a:solidFill>
          <a:ln w="12700">
            <a:solidFill>
              <a:srgbClr val="1E6B4A"/>
            </a:solidFill>
            <a:prstDash val="solid"/>
          </a:ln>
        </p:spPr>
      </p:sp>
      <p:sp>
        <p:nvSpPr>
          <p:cNvPr id="15" name="Text 13"/>
          <p:cNvSpPr txBox="1"/>
          <p:nvPr/>
        </p:nvSpPr>
        <p:spPr>
          <a:xfrm>
            <a:off x="658368" y="405079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225296" y="4032504"/>
            <a:ext cx="1371600" cy="256032"/>
          </a:xfrm>
          <a:prstGeom prst="rect">
            <a:avLst/>
          </a:prstGeom>
          <a:noFill/>
          <a:ln/>
        </p:spPr>
        <p:txBody>
          <a:bodyPr wrap="square" lIns="0" tIns="0" rIns="0" bIns="0" rtlCol="0" anchor="ctr"/>
          <a:lstStyle/>
          <a:p>
            <a:pPr indent="0" marL="0">
              <a:buNone/>
            </a:pPr>
            <a:r>
              <a:rPr lang="en-US" sz="1050" b="1" spc="200" kern="0" dirty="0">
                <a:solidFill>
                  <a:srgbClr val="1E6B4A"/>
                </a:solidFill>
                <a:latin typeface="Calibri" pitchFamily="34" charset="0"/>
                <a:ea typeface="Calibri" pitchFamily="34" charset="-122"/>
                <a:cs typeface="Calibri" pitchFamily="34" charset="-120"/>
              </a:rPr>
              <a:t>PROVEN</a:t>
            </a:r>
            <a:endParaRPr lang="en-US" sz="1050" dirty="0"/>
          </a:p>
        </p:txBody>
      </p:sp>
      <p:sp>
        <p:nvSpPr>
          <p:cNvPr id="17" name="Text 15"/>
          <p:cNvSpPr txBox="1"/>
          <p:nvPr/>
        </p:nvSpPr>
        <p:spPr>
          <a:xfrm>
            <a:off x="2715768" y="3959352"/>
            <a:ext cx="4572000" cy="777240"/>
          </a:xfrm>
          <a:prstGeom prst="rect">
            <a:avLst/>
          </a:prstGeom>
          <a:noFill/>
          <a:ln/>
        </p:spPr>
        <p:txBody>
          <a:bodyPr wrap="square" lIns="0" tIns="0" rIns="0" bIns="0" rtlCol="0" anchor="t"/>
          <a:lstStyle/>
          <a:p>
            <a:pPr indent="0" marL="0">
              <a:buNone/>
            </a:pPr>
            <a:r>
              <a:rPr lang="en-US" sz="1600" b="1" dirty="0">
                <a:solidFill>
                  <a:srgbClr val="17201C"/>
                </a:solidFill>
                <a:latin typeface="Cambria" pitchFamily="34" charset="0"/>
                <a:ea typeface="Cambria" pitchFamily="34" charset="-122"/>
                <a:cs typeface="Cambria" pitchFamily="34" charset="-120"/>
              </a:rPr>
              <a:t>Fermentation DOES occur at this pH.</a:t>
            </a:r>
            <a:endParaRPr lang="en-US" sz="1600" dirty="0"/>
          </a:p>
        </p:txBody>
      </p:sp>
      <p:sp>
        <p:nvSpPr>
          <p:cNvPr id="18" name="Text 16"/>
          <p:cNvSpPr txBox="1"/>
          <p:nvPr/>
        </p:nvSpPr>
        <p:spPr>
          <a:xfrm>
            <a:off x="7470648" y="3995928"/>
            <a:ext cx="4023360" cy="77724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Graded proven. The earlier version is still underneath it, not overwritten.</a:t>
            </a:r>
            <a:endParaRPr lang="en-US" sz="1250" dirty="0"/>
          </a:p>
        </p:txBody>
      </p:sp>
      <p:sp>
        <p:nvSpPr>
          <p:cNvPr id="19" name="Shape 17"/>
          <p:cNvSpPr/>
          <p:nvPr/>
        </p:nvSpPr>
        <p:spPr>
          <a:xfrm>
            <a:off x="658368" y="5074920"/>
            <a:ext cx="10835640" cy="868680"/>
          </a:xfrm>
          <a:prstGeom prst="roundRect">
            <a:avLst>
              <a:gd name="adj" fmla="val 6316"/>
            </a:avLst>
          </a:prstGeom>
          <a:solidFill>
            <a:srgbClr val="E7F0EA"/>
          </a:solidFill>
          <a:ln w="9525">
            <a:solidFill>
              <a:srgbClr val="DCE4DF"/>
            </a:solidFill>
            <a:prstDash val="solid"/>
          </a:ln>
        </p:spPr>
      </p:sp>
      <p:sp>
        <p:nvSpPr>
          <p:cNvPr id="20" name="Text 18"/>
          <p:cNvSpPr txBox="1"/>
          <p:nvPr/>
        </p:nvSpPr>
        <p:spPr>
          <a:xfrm>
            <a:off x="1042416" y="5230368"/>
            <a:ext cx="10058400" cy="566928"/>
          </a:xfrm>
          <a:prstGeom prst="rect">
            <a:avLst/>
          </a:prstGeom>
          <a:noFill/>
          <a:ln/>
        </p:spPr>
        <p:txBody>
          <a:bodyPr wrap="square" lIns="0" tIns="0" rIns="0" bIns="0" rtlCol="0" anchor="ctr"/>
          <a:lstStyle/>
          <a:p>
            <a:pPr indent="0" marL="0">
              <a:buNone/>
            </a:pPr>
            <a:r>
              <a:rPr lang="en-US" sz="1450" dirty="0">
                <a:solidFill>
                  <a:srgbClr val="17201C"/>
                </a:solidFill>
                <a:latin typeface="Calibri" pitchFamily="34" charset="0"/>
                <a:ea typeface="Calibri" pitchFamily="34" charset="-122"/>
                <a:cs typeface="Calibri" pitchFamily="34" charset="-120"/>
              </a:rPr>
              <a:t>This is worth more than a success. It stops the same argument being made again next year — and it belongs to whoever wrote it, not to whoever proved it wrong.</a:t>
            </a:r>
            <a:endParaRPr lang="en-US" sz="14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GETTING IN</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You do not have to know what kind of thing it is</a:t>
            </a:r>
            <a:endParaRPr lang="en-US" sz="3800" dirty="0"/>
          </a:p>
        </p:txBody>
      </p:sp>
      <p:sp>
        <p:nvSpPr>
          <p:cNvPr id="4" name="Text 2"/>
          <p:cNvSpPr txBox="1"/>
          <p:nvPr/>
        </p:nvSpPr>
        <p:spPr>
          <a:xfrm>
            <a:off x="658368" y="1810512"/>
            <a:ext cx="10844784" cy="640080"/>
          </a:xfrm>
          <a:prstGeom prst="rect">
            <a:avLst/>
          </a:prstGeom>
          <a:noFill/>
          <a:ln/>
        </p:spPr>
        <p:txBody>
          <a:bodyPr wrap="square" lIns="0" tIns="0" rIns="0" bIns="0" rtlCol="0" anchor="ctr"/>
          <a:lstStyle/>
          <a:p>
            <a:pPr indent="0" marL="0">
              <a:buNone/>
            </a:pPr>
            <a:r>
              <a:rPr lang="en-US" sz="1550" dirty="0">
                <a:solidFill>
                  <a:srgbClr val="48544E"/>
                </a:solidFill>
                <a:latin typeface="Calibri" pitchFamily="34" charset="0"/>
                <a:ea typeface="Calibri" pitchFamily="34" charset="-122"/>
                <a:cs typeface="Calibri" pitchFamily="34" charset="-120"/>
              </a:rPr>
              <a:t>The most common way a system like this dies is that people stop writing things down because they are not sure where it goes. So the door asks for one thing: what happened, in your own words.</a:t>
            </a:r>
            <a:endParaRPr lang="en-US" sz="1550" dirty="0"/>
          </a:p>
        </p:txBody>
      </p:sp>
      <p:sp>
        <p:nvSpPr>
          <p:cNvPr id="5" name="Shape 3"/>
          <p:cNvSpPr/>
          <p:nvPr/>
        </p:nvSpPr>
        <p:spPr>
          <a:xfrm>
            <a:off x="658368" y="2651760"/>
            <a:ext cx="2505456" cy="2395728"/>
          </a:xfrm>
          <a:prstGeom prst="roundRect">
            <a:avLst>
              <a:gd name="adj" fmla="val 2290"/>
            </a:avLst>
          </a:prstGeom>
          <a:solidFill>
            <a:srgbClr val="E7F0EA"/>
          </a:solidFill>
          <a:ln w="9525">
            <a:solidFill>
              <a:srgbClr val="DCE4DF"/>
            </a:solidFill>
            <a:prstDash val="solid"/>
          </a:ln>
        </p:spPr>
      </p:sp>
      <p:sp>
        <p:nvSpPr>
          <p:cNvPr id="6" name="Text 4"/>
          <p:cNvSpPr txBox="1"/>
          <p:nvPr/>
        </p:nvSpPr>
        <p:spPr>
          <a:xfrm>
            <a:off x="914400" y="2871216"/>
            <a:ext cx="1993392" cy="658368"/>
          </a:xfrm>
          <a:prstGeom prst="rect">
            <a:avLst/>
          </a:prstGeom>
          <a:noFill/>
          <a:ln/>
        </p:spPr>
        <p:txBody>
          <a:bodyPr wrap="square" lIns="0" tIns="0" rIns="0" bIns="0" rtlCol="0" anchor="t"/>
          <a:lstStyle/>
          <a:p>
            <a:pPr indent="0" marL="0">
              <a:buNone/>
            </a:pPr>
            <a:r>
              <a:rPr lang="en-US" sz="1600" b="1" dirty="0">
                <a:solidFill>
                  <a:srgbClr val="17201C"/>
                </a:solidFill>
                <a:latin typeface="Cambria" pitchFamily="34" charset="0"/>
                <a:ea typeface="Cambria" pitchFamily="34" charset="-122"/>
                <a:cs typeface="Cambria" pitchFamily="34" charset="-120"/>
              </a:rPr>
              <a:t>Not sure yet</a:t>
            </a:r>
            <a:endParaRPr lang="en-US" sz="1600" dirty="0"/>
          </a:p>
        </p:txBody>
      </p:sp>
      <p:sp>
        <p:nvSpPr>
          <p:cNvPr id="7" name="Text 5"/>
          <p:cNvSpPr txBox="1"/>
          <p:nvPr/>
        </p:nvSpPr>
        <p:spPr>
          <a:xfrm>
            <a:off x="914400" y="3584448"/>
            <a:ext cx="1993392" cy="1298448"/>
          </a:xfrm>
          <a:prstGeom prst="rect">
            <a:avLst/>
          </a:prstGeom>
          <a:noFill/>
          <a:ln/>
        </p:spPr>
        <p:txBody>
          <a:bodyPr wrap="square" lIns="0" tIns="0" rIns="0" bIns="0" rtlCol="0" anchor="t"/>
          <a:lstStyle/>
          <a:p>
            <a:pPr indent="0" marL="0">
              <a:buNone/>
            </a:pPr>
            <a:r>
              <a:rPr lang="en-US" sz="1200" dirty="0">
                <a:solidFill>
                  <a:srgbClr val="48544E"/>
                </a:solidFill>
                <a:latin typeface="Calibri" pitchFamily="34" charset="0"/>
                <a:ea typeface="Calibri" pitchFamily="34" charset="-122"/>
                <a:cs typeface="Calibri" pitchFamily="34" charset="-120"/>
              </a:rPr>
              <a:t>The ordinary answer, and it is listed first on purpose. Held as an Observation until someone files it.</a:t>
            </a:r>
            <a:endParaRPr lang="en-US" sz="1200" dirty="0"/>
          </a:p>
        </p:txBody>
      </p:sp>
      <p:sp>
        <p:nvSpPr>
          <p:cNvPr id="8" name="Shape 6"/>
          <p:cNvSpPr/>
          <p:nvPr/>
        </p:nvSpPr>
        <p:spPr>
          <a:xfrm>
            <a:off x="3438144" y="2651760"/>
            <a:ext cx="2505456" cy="2395728"/>
          </a:xfrm>
          <a:prstGeom prst="roundRect">
            <a:avLst>
              <a:gd name="adj" fmla="val 2290"/>
            </a:avLst>
          </a:prstGeom>
          <a:solidFill>
            <a:srgbClr val="F3F6F4"/>
          </a:solidFill>
          <a:ln w="9525">
            <a:solidFill>
              <a:srgbClr val="DCE4DF"/>
            </a:solidFill>
            <a:prstDash val="solid"/>
          </a:ln>
        </p:spPr>
      </p:sp>
      <p:sp>
        <p:nvSpPr>
          <p:cNvPr id="9" name="Text 7"/>
          <p:cNvSpPr txBox="1"/>
          <p:nvPr/>
        </p:nvSpPr>
        <p:spPr>
          <a:xfrm>
            <a:off x="3694176" y="2871216"/>
            <a:ext cx="1993392" cy="658368"/>
          </a:xfrm>
          <a:prstGeom prst="rect">
            <a:avLst/>
          </a:prstGeom>
          <a:noFill/>
          <a:ln/>
        </p:spPr>
        <p:txBody>
          <a:bodyPr wrap="square" lIns="0" tIns="0" rIns="0" bIns="0" rtlCol="0" anchor="t"/>
          <a:lstStyle/>
          <a:p>
            <a:pPr indent="0" marL="0">
              <a:buNone/>
            </a:pPr>
            <a:r>
              <a:rPr lang="en-US" sz="1600" b="1" dirty="0">
                <a:solidFill>
                  <a:srgbClr val="17201C"/>
                </a:solidFill>
                <a:latin typeface="Cambria" pitchFamily="34" charset="0"/>
                <a:ea typeface="Cambria" pitchFamily="34" charset="-122"/>
                <a:cs typeface="Cambria" pitchFamily="34" charset="-120"/>
              </a:rPr>
              <a:t>A complaint</a:t>
            </a:r>
            <a:endParaRPr lang="en-US" sz="1600" dirty="0"/>
          </a:p>
        </p:txBody>
      </p:sp>
      <p:sp>
        <p:nvSpPr>
          <p:cNvPr id="10" name="Text 8"/>
          <p:cNvSpPr txBox="1"/>
          <p:nvPr/>
        </p:nvSpPr>
        <p:spPr>
          <a:xfrm>
            <a:off x="3694176" y="3584448"/>
            <a:ext cx="1993392" cy="1298448"/>
          </a:xfrm>
          <a:prstGeom prst="rect">
            <a:avLst/>
          </a:prstGeom>
          <a:noFill/>
          <a:ln/>
        </p:spPr>
        <p:txBody>
          <a:bodyPr wrap="square" lIns="0" tIns="0" rIns="0" bIns="0" rtlCol="0" anchor="t"/>
          <a:lstStyle/>
          <a:p>
            <a:pPr indent="0" marL="0">
              <a:buNone/>
            </a:pPr>
            <a:r>
              <a:rPr lang="en-US" sz="1200" dirty="0">
                <a:solidFill>
                  <a:srgbClr val="48544E"/>
                </a:solidFill>
                <a:latin typeface="Calibri" pitchFamily="34" charset="0"/>
                <a:ea typeface="Calibri" pitchFamily="34" charset="-122"/>
                <a:cs typeface="Calibri" pitchFamily="34" charset="-120"/>
              </a:rPr>
              <a:t>Something we already sell is not doing what it should. A Challenge.</a:t>
            </a:r>
            <a:endParaRPr lang="en-US" sz="1200" dirty="0"/>
          </a:p>
        </p:txBody>
      </p:sp>
      <p:sp>
        <p:nvSpPr>
          <p:cNvPr id="11" name="Shape 9"/>
          <p:cNvSpPr/>
          <p:nvPr/>
        </p:nvSpPr>
        <p:spPr>
          <a:xfrm>
            <a:off x="6217920" y="2651760"/>
            <a:ext cx="2505456" cy="2395728"/>
          </a:xfrm>
          <a:prstGeom prst="roundRect">
            <a:avLst>
              <a:gd name="adj" fmla="val 2290"/>
            </a:avLst>
          </a:prstGeom>
          <a:solidFill>
            <a:srgbClr val="F3F6F4"/>
          </a:solidFill>
          <a:ln w="9525">
            <a:solidFill>
              <a:srgbClr val="DCE4DF"/>
            </a:solidFill>
            <a:prstDash val="solid"/>
          </a:ln>
        </p:spPr>
      </p:sp>
      <p:sp>
        <p:nvSpPr>
          <p:cNvPr id="12" name="Text 10"/>
          <p:cNvSpPr txBox="1"/>
          <p:nvPr/>
        </p:nvSpPr>
        <p:spPr>
          <a:xfrm>
            <a:off x="6473952" y="2871216"/>
            <a:ext cx="1993392" cy="658368"/>
          </a:xfrm>
          <a:prstGeom prst="rect">
            <a:avLst/>
          </a:prstGeom>
          <a:noFill/>
          <a:ln/>
        </p:spPr>
        <p:txBody>
          <a:bodyPr wrap="square" lIns="0" tIns="0" rIns="0" bIns="0" rtlCol="0" anchor="t"/>
          <a:lstStyle/>
          <a:p>
            <a:pPr indent="0" marL="0">
              <a:buNone/>
            </a:pPr>
            <a:r>
              <a:rPr lang="en-US" sz="1600" b="1" dirty="0">
                <a:solidFill>
                  <a:srgbClr val="17201C"/>
                </a:solidFill>
                <a:latin typeface="Cambria" pitchFamily="34" charset="0"/>
                <a:ea typeface="Cambria" pitchFamily="34" charset="-122"/>
                <a:cs typeface="Cambria" pitchFamily="34" charset="-120"/>
              </a:rPr>
              <a:t>Something arrived</a:t>
            </a:r>
            <a:endParaRPr lang="en-US" sz="1600" dirty="0"/>
          </a:p>
        </p:txBody>
      </p:sp>
      <p:sp>
        <p:nvSpPr>
          <p:cNvPr id="13" name="Text 11"/>
          <p:cNvSpPr txBox="1"/>
          <p:nvPr/>
        </p:nvSpPr>
        <p:spPr>
          <a:xfrm>
            <a:off x="6473952" y="3584448"/>
            <a:ext cx="1993392" cy="1298448"/>
          </a:xfrm>
          <a:prstGeom prst="rect">
            <a:avLst/>
          </a:prstGeom>
          <a:noFill/>
          <a:ln/>
        </p:spPr>
        <p:txBody>
          <a:bodyPr wrap="square" lIns="0" tIns="0" rIns="0" bIns="0" rtlCol="0" anchor="t"/>
          <a:lstStyle/>
          <a:p>
            <a:pPr indent="0" marL="0">
              <a:buNone/>
            </a:pPr>
            <a:r>
              <a:rPr lang="en-US" sz="1200" dirty="0">
                <a:solidFill>
                  <a:srgbClr val="48544E"/>
                </a:solidFill>
                <a:latin typeface="Calibri" pitchFamily="34" charset="0"/>
                <a:ea typeface="Calibri" pitchFamily="34" charset="-122"/>
                <a:cs typeface="Calibri" pitchFamily="34" charset="-120"/>
              </a:rPr>
              <a:t>A result or a material that reached us. Not a complaint, and not an idea. An Observation.</a:t>
            </a:r>
            <a:endParaRPr lang="en-US" sz="1200" dirty="0"/>
          </a:p>
        </p:txBody>
      </p:sp>
      <p:sp>
        <p:nvSpPr>
          <p:cNvPr id="14" name="Shape 12"/>
          <p:cNvSpPr/>
          <p:nvPr/>
        </p:nvSpPr>
        <p:spPr>
          <a:xfrm>
            <a:off x="8997696" y="2651760"/>
            <a:ext cx="2505456" cy="2395728"/>
          </a:xfrm>
          <a:prstGeom prst="roundRect">
            <a:avLst>
              <a:gd name="adj" fmla="val 2290"/>
            </a:avLst>
          </a:prstGeom>
          <a:solidFill>
            <a:srgbClr val="F3F6F4"/>
          </a:solidFill>
          <a:ln w="9525">
            <a:solidFill>
              <a:srgbClr val="DCE4DF"/>
            </a:solidFill>
            <a:prstDash val="solid"/>
          </a:ln>
        </p:spPr>
      </p:sp>
      <p:sp>
        <p:nvSpPr>
          <p:cNvPr id="15" name="Text 13"/>
          <p:cNvSpPr txBox="1"/>
          <p:nvPr/>
        </p:nvSpPr>
        <p:spPr>
          <a:xfrm>
            <a:off x="9253728" y="2871216"/>
            <a:ext cx="1993392" cy="658368"/>
          </a:xfrm>
          <a:prstGeom prst="rect">
            <a:avLst/>
          </a:prstGeom>
          <a:noFill/>
          <a:ln/>
        </p:spPr>
        <p:txBody>
          <a:bodyPr wrap="square" lIns="0" tIns="0" rIns="0" bIns="0" rtlCol="0" anchor="t"/>
          <a:lstStyle/>
          <a:p>
            <a:pPr indent="0" marL="0">
              <a:buNone/>
            </a:pPr>
            <a:r>
              <a:rPr lang="en-US" sz="1600" b="1" dirty="0">
                <a:solidFill>
                  <a:srgbClr val="17201C"/>
                </a:solidFill>
                <a:latin typeface="Cambria" pitchFamily="34" charset="0"/>
                <a:ea typeface="Cambria" pitchFamily="34" charset="-122"/>
                <a:cs typeface="Cambria" pitchFamily="34" charset="-120"/>
              </a:rPr>
              <a:t>Someone wants a sample</a:t>
            </a:r>
            <a:endParaRPr lang="en-US" sz="1600" dirty="0"/>
          </a:p>
        </p:txBody>
      </p:sp>
      <p:sp>
        <p:nvSpPr>
          <p:cNvPr id="16" name="Text 14"/>
          <p:cNvSpPr txBox="1"/>
          <p:nvPr/>
        </p:nvSpPr>
        <p:spPr>
          <a:xfrm>
            <a:off x="9253728" y="3584448"/>
            <a:ext cx="1993392" cy="1298448"/>
          </a:xfrm>
          <a:prstGeom prst="rect">
            <a:avLst/>
          </a:prstGeom>
          <a:noFill/>
          <a:ln/>
        </p:spPr>
        <p:txBody>
          <a:bodyPr wrap="square" lIns="0" tIns="0" rIns="0" bIns="0" rtlCol="0" anchor="t"/>
          <a:lstStyle/>
          <a:p>
            <a:pPr indent="0" marL="0">
              <a:buNone/>
            </a:pPr>
            <a:r>
              <a:rPr lang="en-US" sz="1200" dirty="0">
                <a:solidFill>
                  <a:srgbClr val="48544E"/>
                </a:solidFill>
                <a:latin typeface="Calibri" pitchFamily="34" charset="0"/>
                <a:ea typeface="Calibri" pitchFamily="34" charset="-122"/>
                <a:cs typeface="Calibri" pitchFamily="34" charset="-120"/>
              </a:rPr>
              <a:t>Someone has asked for a sample or a product to be made. A Request.</a:t>
            </a:r>
            <a:endParaRPr lang="en-US" sz="1200" dirty="0"/>
          </a:p>
        </p:txBody>
      </p:sp>
      <p:sp>
        <p:nvSpPr>
          <p:cNvPr id="17" name="Text 15"/>
          <p:cNvSpPr txBox="1"/>
          <p:nvPr/>
        </p:nvSpPr>
        <p:spPr>
          <a:xfrm>
            <a:off x="658368" y="5321808"/>
            <a:ext cx="10844784" cy="548640"/>
          </a:xfrm>
          <a:prstGeom prst="rect">
            <a:avLst/>
          </a:prstGeom>
          <a:noFill/>
          <a:ln/>
        </p:spPr>
        <p:txBody>
          <a:bodyPr wrap="square" lIns="0" tIns="0" rIns="0" bIns="0" rtlCol="0" anchor="ctr"/>
          <a:lstStyle/>
          <a:p>
            <a:pPr indent="0" marL="0">
              <a:buNone/>
            </a:pPr>
            <a:r>
              <a:rPr lang="en-US" sz="1550" dirty="0">
                <a:solidFill>
                  <a:srgbClr val="48544E"/>
                </a:solidFill>
                <a:latin typeface="Calibri" pitchFamily="34" charset="0"/>
                <a:ea typeface="Calibri" pitchFamily="34" charset="-122"/>
                <a:cs typeface="Calibri" pitchFamily="34" charset="-120"/>
              </a:rPr>
              <a:t>All four are optional. If you do not know, write it down anyway — someone will file it afterwards, and that is a filing act, not a judgement on what you wrote.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YOUR SCREEN</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The system tells you what it needs, before it asks</a:t>
            </a:r>
            <a:endParaRPr lang="en-US" sz="3800" dirty="0"/>
          </a:p>
        </p:txBody>
      </p:sp>
      <p:sp>
        <p:nvSpPr>
          <p:cNvPr id="4" name="Text 2"/>
          <p:cNvSpPr txBox="1"/>
          <p:nvPr/>
        </p:nvSpPr>
        <p:spPr>
          <a:xfrm>
            <a:off x="658368" y="1965960"/>
            <a:ext cx="10835640" cy="457200"/>
          </a:xfrm>
          <a:prstGeom prst="rect">
            <a:avLst/>
          </a:prstGeom>
          <a:noFill/>
          <a:ln/>
        </p:spPr>
        <p:txBody>
          <a:bodyPr wrap="square" lIns="0" tIns="0" rIns="0" bIns="0" rtlCol="0" anchor="ctr"/>
          <a:lstStyle/>
          <a:p>
            <a:pPr indent="0" marL="0">
              <a:buNone/>
            </a:pPr>
            <a:r>
              <a:rPr lang="en-US" sz="1550" dirty="0">
                <a:solidFill>
                  <a:srgbClr val="48544E"/>
                </a:solidFill>
                <a:latin typeface="Calibri" pitchFamily="34" charset="0"/>
                <a:ea typeface="Calibri" pitchFamily="34" charset="-122"/>
                <a:cs typeface="Calibri" pitchFamily="34" charset="-120"/>
              </a:rPr>
              <a:t>The page you land on is yours alone. Nobody else can see it, and there is no version of it pointed at anybody else.</a:t>
            </a:r>
            <a:endParaRPr lang="en-US" sz="1550" dirty="0"/>
          </a:p>
        </p:txBody>
      </p:sp>
      <p:sp>
        <p:nvSpPr>
          <p:cNvPr id="5" name="Shape 3"/>
          <p:cNvSpPr/>
          <p:nvPr/>
        </p:nvSpPr>
        <p:spPr>
          <a:xfrm>
            <a:off x="658368" y="2697480"/>
            <a:ext cx="384048" cy="384048"/>
          </a:xfrm>
          <a:prstGeom prst="ellipse">
            <a:avLst/>
          </a:prstGeom>
          <a:solidFill>
            <a:srgbClr val="1E6B4A"/>
          </a:solidFill>
          <a:ln w="12700">
            <a:solidFill>
              <a:srgbClr val="1E6B4A"/>
            </a:solidFill>
            <a:prstDash val="solid"/>
          </a:ln>
        </p:spPr>
      </p:sp>
      <p:sp>
        <p:nvSpPr>
          <p:cNvPr id="6" name="Text 4"/>
          <p:cNvSpPr txBox="1"/>
          <p:nvPr/>
        </p:nvSpPr>
        <p:spPr>
          <a:xfrm>
            <a:off x="658368" y="2697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25296" y="2670048"/>
            <a:ext cx="3291840" cy="365760"/>
          </a:xfrm>
          <a:prstGeom prst="rect">
            <a:avLst/>
          </a:prstGeom>
          <a:noFill/>
          <a:ln/>
        </p:spPr>
        <p:txBody>
          <a:bodyPr wrap="square" lIns="0" tIns="0" rIns="0" bIns="0" rtlCol="0" anchor="ctr"/>
          <a:lstStyle/>
          <a:p>
            <a:pPr indent="0" marL="0">
              <a:buNone/>
            </a:pPr>
            <a:r>
              <a:rPr lang="en-US" sz="1600" b="1" dirty="0">
                <a:solidFill>
                  <a:srgbClr val="17201C"/>
                </a:solidFill>
                <a:latin typeface="Cambria" pitchFamily="34" charset="0"/>
                <a:ea typeface="Cambria" pitchFamily="34" charset="-122"/>
                <a:cs typeface="Cambria" pitchFamily="34" charset="-120"/>
              </a:rPr>
              <a:t>Readings that are due</a:t>
            </a:r>
            <a:endParaRPr lang="en-US" sz="1600" dirty="0"/>
          </a:p>
        </p:txBody>
      </p:sp>
      <p:sp>
        <p:nvSpPr>
          <p:cNvPr id="8" name="Text 6"/>
          <p:cNvSpPr txBox="1"/>
          <p:nvPr/>
        </p:nvSpPr>
        <p:spPr>
          <a:xfrm>
            <a:off x="4636008" y="2660904"/>
            <a:ext cx="6858000" cy="640080"/>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Each trial you own, with the date its next reading is due — and a flag when no next date has been set.</a:t>
            </a:r>
            <a:endParaRPr lang="en-US" sz="1300" dirty="0"/>
          </a:p>
        </p:txBody>
      </p:sp>
      <p:sp>
        <p:nvSpPr>
          <p:cNvPr id="9" name="Shape 7"/>
          <p:cNvSpPr/>
          <p:nvPr/>
        </p:nvSpPr>
        <p:spPr>
          <a:xfrm>
            <a:off x="658368" y="3483864"/>
            <a:ext cx="384048" cy="384048"/>
          </a:xfrm>
          <a:prstGeom prst="ellipse">
            <a:avLst/>
          </a:prstGeom>
          <a:solidFill>
            <a:srgbClr val="1E6B4A"/>
          </a:solidFill>
          <a:ln w="12700">
            <a:solidFill>
              <a:srgbClr val="1E6B4A"/>
            </a:solidFill>
            <a:prstDash val="solid"/>
          </a:ln>
        </p:spPr>
      </p:sp>
      <p:sp>
        <p:nvSpPr>
          <p:cNvPr id="10" name="Text 8"/>
          <p:cNvSpPr txBox="1"/>
          <p:nvPr/>
        </p:nvSpPr>
        <p:spPr>
          <a:xfrm>
            <a:off x="658368" y="3483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25296" y="3456432"/>
            <a:ext cx="3291840" cy="365760"/>
          </a:xfrm>
          <a:prstGeom prst="rect">
            <a:avLst/>
          </a:prstGeom>
          <a:noFill/>
          <a:ln/>
        </p:spPr>
        <p:txBody>
          <a:bodyPr wrap="square" lIns="0" tIns="0" rIns="0" bIns="0" rtlCol="0" anchor="ctr"/>
          <a:lstStyle/>
          <a:p>
            <a:pPr indent="0" marL="0">
              <a:buNone/>
            </a:pPr>
            <a:r>
              <a:rPr lang="en-US" sz="1600" b="1" dirty="0">
                <a:solidFill>
                  <a:srgbClr val="17201C"/>
                </a:solidFill>
                <a:latin typeface="Cambria" pitchFamily="34" charset="0"/>
                <a:ea typeface="Cambria" pitchFamily="34" charset="-122"/>
                <a:cs typeface="Cambria" pitchFamily="34" charset="-120"/>
              </a:rPr>
              <a:t>Questions past their date</a:t>
            </a:r>
            <a:endParaRPr lang="en-US" sz="1600" dirty="0"/>
          </a:p>
        </p:txBody>
      </p:sp>
      <p:sp>
        <p:nvSpPr>
          <p:cNvPr id="12" name="Text 10"/>
          <p:cNvSpPr txBox="1"/>
          <p:nvPr/>
        </p:nvSpPr>
        <p:spPr>
          <a:xfrm>
            <a:off x="4636008" y="3447288"/>
            <a:ext cx="6858000" cy="640080"/>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Yours, with what they are waiting on.</a:t>
            </a:r>
            <a:endParaRPr lang="en-US" sz="1300" dirty="0"/>
          </a:p>
        </p:txBody>
      </p:sp>
      <p:sp>
        <p:nvSpPr>
          <p:cNvPr id="13" name="Shape 11"/>
          <p:cNvSpPr/>
          <p:nvPr/>
        </p:nvSpPr>
        <p:spPr>
          <a:xfrm>
            <a:off x="658368" y="4270248"/>
            <a:ext cx="384048" cy="384048"/>
          </a:xfrm>
          <a:prstGeom prst="ellipse">
            <a:avLst/>
          </a:prstGeom>
          <a:solidFill>
            <a:srgbClr val="1E6B4A"/>
          </a:solidFill>
          <a:ln w="12700">
            <a:solidFill>
              <a:srgbClr val="1E6B4A"/>
            </a:solidFill>
            <a:prstDash val="solid"/>
          </a:ln>
        </p:spPr>
      </p:sp>
      <p:sp>
        <p:nvSpPr>
          <p:cNvPr id="14" name="Text 12"/>
          <p:cNvSpPr txBox="1"/>
          <p:nvPr/>
        </p:nvSpPr>
        <p:spPr>
          <a:xfrm>
            <a:off x="658368" y="42702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25296" y="4242816"/>
            <a:ext cx="3291840" cy="365760"/>
          </a:xfrm>
          <a:prstGeom prst="rect">
            <a:avLst/>
          </a:prstGeom>
          <a:noFill/>
          <a:ln/>
        </p:spPr>
        <p:txBody>
          <a:bodyPr wrap="square" lIns="0" tIns="0" rIns="0" bIns="0" rtlCol="0" anchor="ctr"/>
          <a:lstStyle/>
          <a:p>
            <a:pPr indent="0" marL="0">
              <a:buNone/>
            </a:pPr>
            <a:r>
              <a:rPr lang="en-US" sz="1600" b="1" dirty="0">
                <a:solidFill>
                  <a:srgbClr val="17201C"/>
                </a:solidFill>
                <a:latin typeface="Cambria" pitchFamily="34" charset="0"/>
                <a:ea typeface="Cambria" pitchFamily="34" charset="-122"/>
                <a:cs typeface="Cambria" pitchFamily="34" charset="-120"/>
              </a:rPr>
              <a:t>Things that turned up abnormal</a:t>
            </a:r>
            <a:endParaRPr lang="en-US" sz="1600" dirty="0"/>
          </a:p>
        </p:txBody>
      </p:sp>
      <p:sp>
        <p:nvSpPr>
          <p:cNvPr id="16" name="Text 14"/>
          <p:cNvSpPr txBox="1"/>
          <p:nvPr/>
        </p:nvSpPr>
        <p:spPr>
          <a:xfrm>
            <a:off x="4636008" y="4233672"/>
            <a:ext cx="6858000" cy="640080"/>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A Run where something unexpected was seen, and an investigation is open.</a:t>
            </a:r>
            <a:endParaRPr lang="en-US" sz="1300" dirty="0"/>
          </a:p>
        </p:txBody>
      </p:sp>
      <p:sp>
        <p:nvSpPr>
          <p:cNvPr id="17" name="Shape 15"/>
          <p:cNvSpPr/>
          <p:nvPr/>
        </p:nvSpPr>
        <p:spPr>
          <a:xfrm>
            <a:off x="658368" y="5056632"/>
            <a:ext cx="384048" cy="384048"/>
          </a:xfrm>
          <a:prstGeom prst="ellipse">
            <a:avLst/>
          </a:prstGeom>
          <a:solidFill>
            <a:srgbClr val="1E6B4A"/>
          </a:solidFill>
          <a:ln w="12700">
            <a:solidFill>
              <a:srgbClr val="1E6B4A"/>
            </a:solidFill>
            <a:prstDash val="solid"/>
          </a:ln>
        </p:spPr>
      </p:sp>
      <p:sp>
        <p:nvSpPr>
          <p:cNvPr id="18" name="Text 16"/>
          <p:cNvSpPr txBox="1"/>
          <p:nvPr/>
        </p:nvSpPr>
        <p:spPr>
          <a:xfrm>
            <a:off x="658368" y="505663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25296" y="5029200"/>
            <a:ext cx="3291840" cy="365760"/>
          </a:xfrm>
          <a:prstGeom prst="rect">
            <a:avLst/>
          </a:prstGeom>
          <a:noFill/>
          <a:ln/>
        </p:spPr>
        <p:txBody>
          <a:bodyPr wrap="square" lIns="0" tIns="0" rIns="0" bIns="0" rtlCol="0" anchor="ctr"/>
          <a:lstStyle/>
          <a:p>
            <a:pPr indent="0" marL="0">
              <a:buNone/>
            </a:pPr>
            <a:r>
              <a:rPr lang="en-US" sz="1600" b="1" dirty="0">
                <a:solidFill>
                  <a:srgbClr val="17201C"/>
                </a:solidFill>
                <a:latin typeface="Cambria" pitchFamily="34" charset="0"/>
                <a:ea typeface="Cambria" pitchFamily="34" charset="-122"/>
                <a:cs typeface="Cambria" pitchFamily="34" charset="-120"/>
              </a:rPr>
              <a:t>Anything refiled</a:t>
            </a:r>
            <a:endParaRPr lang="en-US" sz="1600" dirty="0"/>
          </a:p>
        </p:txBody>
      </p:sp>
      <p:sp>
        <p:nvSpPr>
          <p:cNvPr id="20" name="Text 18"/>
          <p:cNvSpPr txBox="1"/>
          <p:nvPr/>
        </p:nvSpPr>
        <p:spPr>
          <a:xfrm>
            <a:off x="4636008" y="5020056"/>
            <a:ext cx="6858000" cy="640080"/>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One short message: what your entry is now, the model's own definition of that kind of thing, and who moved it. Never a correction.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THE REPORT</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It counts things. It never counts people.</a:t>
            </a:r>
            <a:endParaRPr lang="en-US" sz="3800" dirty="0"/>
          </a:p>
        </p:txBody>
      </p:sp>
      <p:sp>
        <p:nvSpPr>
          <p:cNvPr id="4" name="Shape 2"/>
          <p:cNvSpPr/>
          <p:nvPr/>
        </p:nvSpPr>
        <p:spPr>
          <a:xfrm>
            <a:off x="658368" y="2103120"/>
            <a:ext cx="3429000" cy="2194560"/>
          </a:xfrm>
          <a:prstGeom prst="roundRect">
            <a:avLst>
              <a:gd name="adj" fmla="val 2500"/>
            </a:avLst>
          </a:prstGeom>
          <a:solidFill>
            <a:srgbClr val="F3F6F4"/>
          </a:solidFill>
          <a:ln w="9525">
            <a:solidFill>
              <a:srgbClr val="DCE4DF"/>
            </a:solidFill>
            <a:prstDash val="solid"/>
          </a:ln>
        </p:spPr>
      </p:sp>
      <p:sp>
        <p:nvSpPr>
          <p:cNvPr id="5" name="Text 3"/>
          <p:cNvSpPr txBox="1"/>
          <p:nvPr/>
        </p:nvSpPr>
        <p:spPr>
          <a:xfrm>
            <a:off x="932688" y="2331720"/>
            <a:ext cx="2880360" cy="685800"/>
          </a:xfrm>
          <a:prstGeom prst="rect">
            <a:avLst/>
          </a:prstGeom>
          <a:noFill/>
          <a:ln/>
        </p:spPr>
        <p:txBody>
          <a:bodyPr wrap="square" lIns="0" tIns="0" rIns="0" bIns="0" rtlCol="0" anchor="t"/>
          <a:lstStyle/>
          <a:p>
            <a:pPr indent="0" marL="0">
              <a:buNone/>
            </a:pPr>
            <a:r>
              <a:rPr lang="en-US" sz="1700" b="1" dirty="0">
                <a:solidFill>
                  <a:srgbClr val="17201C"/>
                </a:solidFill>
                <a:latin typeface="Cambria" pitchFamily="34" charset="0"/>
                <a:ea typeface="Cambria" pitchFamily="34" charset="-122"/>
                <a:cs typeface="Cambria" pitchFamily="34" charset="-120"/>
              </a:rPr>
              <a:t>What got written down</a:t>
            </a:r>
            <a:endParaRPr lang="en-US" sz="1700" dirty="0"/>
          </a:p>
        </p:txBody>
      </p:sp>
      <p:sp>
        <p:nvSpPr>
          <p:cNvPr id="6" name="Text 4"/>
          <p:cNvSpPr txBox="1"/>
          <p:nvPr/>
        </p:nvSpPr>
        <p:spPr>
          <a:xfrm>
            <a:off x="932688" y="3063240"/>
            <a:ext cx="2880360" cy="109728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Entries arriving, Questions written before samples are made, results written when things close. This is the bar for the first two weeks.</a:t>
            </a:r>
            <a:endParaRPr lang="en-US" sz="1250" dirty="0"/>
          </a:p>
        </p:txBody>
      </p:sp>
      <p:sp>
        <p:nvSpPr>
          <p:cNvPr id="7" name="Shape 5"/>
          <p:cNvSpPr/>
          <p:nvPr/>
        </p:nvSpPr>
        <p:spPr>
          <a:xfrm>
            <a:off x="4361688" y="2103120"/>
            <a:ext cx="3429000" cy="2194560"/>
          </a:xfrm>
          <a:prstGeom prst="roundRect">
            <a:avLst>
              <a:gd name="adj" fmla="val 2500"/>
            </a:avLst>
          </a:prstGeom>
          <a:solidFill>
            <a:srgbClr val="F3F6F4"/>
          </a:solidFill>
          <a:ln w="9525">
            <a:solidFill>
              <a:srgbClr val="DCE4DF"/>
            </a:solidFill>
            <a:prstDash val="solid"/>
          </a:ln>
        </p:spPr>
      </p:sp>
      <p:sp>
        <p:nvSpPr>
          <p:cNvPr id="8" name="Text 6"/>
          <p:cNvSpPr txBox="1"/>
          <p:nvPr/>
        </p:nvSpPr>
        <p:spPr>
          <a:xfrm>
            <a:off x="4636008" y="2331720"/>
            <a:ext cx="2880360" cy="685800"/>
          </a:xfrm>
          <a:prstGeom prst="rect">
            <a:avLst/>
          </a:prstGeom>
          <a:noFill/>
          <a:ln/>
        </p:spPr>
        <p:txBody>
          <a:bodyPr wrap="square" lIns="0" tIns="0" rIns="0" bIns="0" rtlCol="0" anchor="t"/>
          <a:lstStyle/>
          <a:p>
            <a:pPr indent="0" marL="0">
              <a:buNone/>
            </a:pPr>
            <a:r>
              <a:rPr lang="en-US" sz="1700" b="1" dirty="0">
                <a:solidFill>
                  <a:srgbClr val="17201C"/>
                </a:solidFill>
                <a:latin typeface="Cambria" pitchFamily="34" charset="0"/>
                <a:ea typeface="Cambria" pitchFamily="34" charset="-122"/>
                <a:cs typeface="Cambria" pitchFamily="34" charset="-120"/>
              </a:rPr>
              <a:t>Where the work stands</a:t>
            </a:r>
            <a:endParaRPr lang="en-US" sz="1700" dirty="0"/>
          </a:p>
        </p:txBody>
      </p:sp>
      <p:sp>
        <p:nvSpPr>
          <p:cNvPr id="9" name="Text 7"/>
          <p:cNvSpPr txBox="1"/>
          <p:nvPr/>
        </p:nvSpPr>
        <p:spPr>
          <a:xfrm>
            <a:off x="4636008" y="3063240"/>
            <a:ext cx="2880360" cy="109728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Problems, Questions, Bets, Runs, Claims. A killed Bet is a result, and the label says so.</a:t>
            </a:r>
            <a:endParaRPr lang="en-US" sz="1250" dirty="0"/>
          </a:p>
        </p:txBody>
      </p:sp>
      <p:sp>
        <p:nvSpPr>
          <p:cNvPr id="10" name="Shape 8"/>
          <p:cNvSpPr/>
          <p:nvPr/>
        </p:nvSpPr>
        <p:spPr>
          <a:xfrm>
            <a:off x="8065008" y="2103120"/>
            <a:ext cx="3429000" cy="2194560"/>
          </a:xfrm>
          <a:prstGeom prst="roundRect">
            <a:avLst>
              <a:gd name="adj" fmla="val 2500"/>
            </a:avLst>
          </a:prstGeom>
          <a:solidFill>
            <a:srgbClr val="F3F6F4"/>
          </a:solidFill>
          <a:ln w="9525">
            <a:solidFill>
              <a:srgbClr val="DCE4DF"/>
            </a:solidFill>
            <a:prstDash val="solid"/>
          </a:ln>
        </p:spPr>
      </p:sp>
      <p:sp>
        <p:nvSpPr>
          <p:cNvPr id="11" name="Text 9"/>
          <p:cNvSpPr txBox="1"/>
          <p:nvPr/>
        </p:nvSpPr>
        <p:spPr>
          <a:xfrm>
            <a:off x="8339328" y="2331720"/>
            <a:ext cx="2880360" cy="685800"/>
          </a:xfrm>
          <a:prstGeom prst="rect">
            <a:avLst/>
          </a:prstGeom>
          <a:noFill/>
          <a:ln/>
        </p:spPr>
        <p:txBody>
          <a:bodyPr wrap="square" lIns="0" tIns="0" rIns="0" bIns="0" rtlCol="0" anchor="t"/>
          <a:lstStyle/>
          <a:p>
            <a:pPr indent="0" marL="0">
              <a:buNone/>
            </a:pPr>
            <a:r>
              <a:rPr lang="en-US" sz="1700" b="1" dirty="0">
                <a:solidFill>
                  <a:srgbClr val="17201C"/>
                </a:solidFill>
                <a:latin typeface="Cambria" pitchFamily="34" charset="0"/>
                <a:ea typeface="Cambria" pitchFamily="34" charset="-122"/>
                <a:cs typeface="Cambria" pitchFamily="34" charset="-120"/>
              </a:rPr>
              <a:t>Where the discipline is slipping</a:t>
            </a:r>
            <a:endParaRPr lang="en-US" sz="1700" dirty="0"/>
          </a:p>
        </p:txBody>
      </p:sp>
      <p:sp>
        <p:nvSpPr>
          <p:cNvPr id="12" name="Text 10"/>
          <p:cNvSpPr txBox="1"/>
          <p:nvPr/>
        </p:nvSpPr>
        <p:spPr>
          <a:xfrm>
            <a:off x="8339328" y="3063240"/>
            <a:ext cx="2880360" cy="1097280"/>
          </a:xfrm>
          <a:prstGeom prst="rect">
            <a:avLst/>
          </a:prstGeom>
          <a:noFill/>
          <a:ln/>
        </p:spPr>
        <p:txBody>
          <a:bodyPr wrap="square" lIns="0" tIns="0" rIns="0" bIns="0" rtlCol="0" anchor="t"/>
          <a:lstStyle/>
          <a:p>
            <a:pPr indent="0" marL="0">
              <a:buNone/>
            </a:pPr>
            <a:r>
              <a:rPr lang="en-US" sz="1250" dirty="0">
                <a:solidFill>
                  <a:srgbClr val="48544E"/>
                </a:solidFill>
                <a:latin typeface="Calibri" pitchFamily="34" charset="0"/>
                <a:ea typeface="Calibri" pitchFamily="34" charset="-122"/>
                <a:cs typeface="Calibri" pitchFamily="34" charset="-120"/>
              </a:rPr>
              <a:t>Entries not yet filed. Bets nobody acted on. Trials nobody is watching. Runs with no recipe recorded.</a:t>
            </a:r>
            <a:endParaRPr lang="en-US" sz="1250" dirty="0"/>
          </a:p>
        </p:txBody>
      </p:sp>
      <p:sp>
        <p:nvSpPr>
          <p:cNvPr id="13" name="Shape 11"/>
          <p:cNvSpPr/>
          <p:nvPr/>
        </p:nvSpPr>
        <p:spPr>
          <a:xfrm>
            <a:off x="658368" y="4617720"/>
            <a:ext cx="10835640" cy="960120"/>
          </a:xfrm>
          <a:prstGeom prst="roundRect">
            <a:avLst>
              <a:gd name="adj" fmla="val 5714"/>
            </a:avLst>
          </a:prstGeom>
          <a:solidFill>
            <a:srgbClr val="FAF0DC"/>
          </a:solidFill>
          <a:ln w="9525">
            <a:solidFill>
              <a:srgbClr val="DCE4DF"/>
            </a:solidFill>
            <a:prstDash val="solid"/>
          </a:ln>
        </p:spPr>
      </p:sp>
      <p:sp>
        <p:nvSpPr>
          <p:cNvPr id="14" name="Text 12"/>
          <p:cNvSpPr txBox="1"/>
          <p:nvPr/>
        </p:nvSpPr>
        <p:spPr>
          <a:xfrm>
            <a:off x="1042416" y="4828032"/>
            <a:ext cx="10058400" cy="566928"/>
          </a:xfrm>
          <a:prstGeom prst="rect">
            <a:avLst/>
          </a:prstGeom>
          <a:noFill/>
          <a:ln/>
        </p:spPr>
        <p:txBody>
          <a:bodyPr wrap="square" lIns="0" tIns="0" rIns="0" bIns="0" rtlCol="0" anchor="ctr"/>
          <a:lstStyle/>
          <a:p>
            <a:pPr indent="0" marL="0">
              <a:buNone/>
            </a:pPr>
            <a:r>
              <a:rPr lang="en-US" sz="1450" dirty="0">
                <a:solidFill>
                  <a:srgbClr val="17201C"/>
                </a:solidFill>
                <a:latin typeface="Calibri" pitchFamily="34" charset="0"/>
                <a:ea typeface="Calibri" pitchFamily="34" charset="-122"/>
                <a:cs typeface="Calibri" pitchFamily="34" charset="-120"/>
              </a:rPr>
              <a:t>There is no screen in PD that shows how many of a person's entries were refiled — and the audit log is built so that no screen could produce that number.</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1E6B4A"/>
                </a:solidFill>
                <a:latin typeface="Calibri" pitchFamily="34" charset="0"/>
                <a:ea typeface="Calibri" pitchFamily="34" charset="-122"/>
                <a:cs typeface="Calibri" pitchFamily="34" charset="-120"/>
              </a:rPr>
              <a:t>WEEK ONE</a:t>
            </a:r>
            <a:endParaRPr lang="en-US" sz="1100" dirty="0"/>
          </a:p>
        </p:txBody>
      </p:sp>
      <p:sp>
        <p:nvSpPr>
          <p:cNvPr id="3" name="Text 1"/>
          <p:cNvSpPr txBox="1"/>
          <p:nvPr/>
        </p:nvSpPr>
        <p:spPr>
          <a:xfrm>
            <a:off x="658368" y="749808"/>
            <a:ext cx="10844784" cy="960120"/>
          </a:xfrm>
          <a:prstGeom prst="rect">
            <a:avLst/>
          </a:prstGeom>
          <a:noFill/>
          <a:ln/>
        </p:spPr>
        <p:txBody>
          <a:bodyPr wrap="square" lIns="0" tIns="0" rIns="0" bIns="0" rtlCol="0" anchor="t"/>
          <a:lstStyle/>
          <a:p>
            <a:pPr algn="l" indent="0" marL="0">
              <a:buNone/>
            </a:pPr>
            <a:r>
              <a:rPr lang="en-US" sz="3800" b="1" dirty="0">
                <a:solidFill>
                  <a:srgbClr val="17201C"/>
                </a:solidFill>
                <a:latin typeface="Cambria" pitchFamily="34" charset="0"/>
                <a:ea typeface="Cambria" pitchFamily="34" charset="-122"/>
                <a:cs typeface="Cambria" pitchFamily="34" charset="-120"/>
              </a:rPr>
              <a:t>The smallest useful thing, for each of us</a:t>
            </a:r>
            <a:endParaRPr lang="en-US" sz="3800" dirty="0"/>
          </a:p>
        </p:txBody>
      </p:sp>
      <p:sp>
        <p:nvSpPr>
          <p:cNvPr id="4" name="Text 2"/>
          <p:cNvSpPr txBox="1"/>
          <p:nvPr/>
        </p:nvSpPr>
        <p:spPr>
          <a:xfrm>
            <a:off x="658368" y="1627632"/>
            <a:ext cx="10844784" cy="365760"/>
          </a:xfrm>
          <a:prstGeom prst="rect">
            <a:avLst/>
          </a:prstGeom>
          <a:noFill/>
          <a:ln/>
        </p:spPr>
        <p:txBody>
          <a:bodyPr wrap="square" lIns="0" tIns="0" rIns="0" bIns="0" rtlCol="0" anchor="ctr"/>
          <a:lstStyle/>
          <a:p>
            <a:pPr indent="0" marL="0">
              <a:buNone/>
            </a:pPr>
            <a:r>
              <a:rPr lang="en-US" sz="1300" dirty="0">
                <a:solidFill>
                  <a:srgbClr val="7B8781"/>
                </a:solidFill>
                <a:latin typeface="Calibri" pitchFamily="34" charset="0"/>
                <a:ea typeface="Calibri" pitchFamily="34" charset="-122"/>
                <a:cs typeface="Calibri" pitchFamily="34" charset="-120"/>
              </a:rPr>
              <a:t>These are jobs, not the labels the software shows — the role beside your name is a permission setting and may read differently.</a:t>
            </a:r>
            <a:endParaRPr lang="en-US" sz="1300" dirty="0"/>
          </a:p>
        </p:txBody>
      </p:sp>
      <p:sp>
        <p:nvSpPr>
          <p:cNvPr id="5" name="Shape 3"/>
          <p:cNvSpPr/>
          <p:nvPr/>
        </p:nvSpPr>
        <p:spPr>
          <a:xfrm>
            <a:off x="658368" y="2039112"/>
            <a:ext cx="10844784" cy="658368"/>
          </a:xfrm>
          <a:prstGeom prst="rect">
            <a:avLst/>
          </a:prstGeom>
          <a:solidFill>
            <a:srgbClr val="F3F6F4"/>
          </a:solidFill>
          <a:ln w="12700">
            <a:solidFill>
              <a:srgbClr val="F3F6F4"/>
            </a:solidFill>
            <a:prstDash val="solid"/>
          </a:ln>
        </p:spPr>
      </p:sp>
      <p:sp>
        <p:nvSpPr>
          <p:cNvPr id="6" name="Text 4"/>
          <p:cNvSpPr txBox="1"/>
          <p:nvPr/>
        </p:nvSpPr>
        <p:spPr>
          <a:xfrm>
            <a:off x="896112" y="2139696"/>
            <a:ext cx="2423160" cy="457200"/>
          </a:xfrm>
          <a:prstGeom prst="rect">
            <a:avLst/>
          </a:prstGeom>
          <a:noFill/>
          <a:ln/>
        </p:spPr>
        <p:txBody>
          <a:bodyPr wrap="square" lIns="0" tIns="0" rIns="0" bIns="0" rtlCol="0" anchor="t"/>
          <a:lstStyle/>
          <a:p>
            <a:pPr indent="0" marL="0">
              <a:buNone/>
            </a:pPr>
            <a:r>
              <a:rPr lang="en-US" sz="1500" b="1" dirty="0">
                <a:solidFill>
                  <a:srgbClr val="1E6B4A"/>
                </a:solidFill>
                <a:latin typeface="Cambria" pitchFamily="34" charset="0"/>
                <a:ea typeface="Cambria" pitchFamily="34" charset="-122"/>
                <a:cs typeface="Cambria" pitchFamily="34" charset="-120"/>
              </a:rPr>
              <a:t>A chemist</a:t>
            </a:r>
            <a:endParaRPr lang="en-US" sz="1500" dirty="0"/>
          </a:p>
        </p:txBody>
      </p:sp>
      <p:sp>
        <p:nvSpPr>
          <p:cNvPr id="7" name="Text 5"/>
          <p:cNvSpPr txBox="1"/>
          <p:nvPr/>
        </p:nvSpPr>
        <p:spPr>
          <a:xfrm>
            <a:off x="3447288" y="2121408"/>
            <a:ext cx="7763256" cy="56692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Before the next sample you make, write the Question it answers and a Bet with the one result that would end it. Then record the sample as a Run.</a:t>
            </a:r>
            <a:endParaRPr lang="en-US" sz="1300" dirty="0"/>
          </a:p>
        </p:txBody>
      </p:sp>
      <p:sp>
        <p:nvSpPr>
          <p:cNvPr id="8" name="Text 6"/>
          <p:cNvSpPr txBox="1"/>
          <p:nvPr/>
        </p:nvSpPr>
        <p:spPr>
          <a:xfrm>
            <a:off x="896112" y="2825496"/>
            <a:ext cx="2423160" cy="457200"/>
          </a:xfrm>
          <a:prstGeom prst="rect">
            <a:avLst/>
          </a:prstGeom>
          <a:noFill/>
          <a:ln/>
        </p:spPr>
        <p:txBody>
          <a:bodyPr wrap="square" lIns="0" tIns="0" rIns="0" bIns="0" rtlCol="0" anchor="t"/>
          <a:lstStyle/>
          <a:p>
            <a:pPr indent="0" marL="0">
              <a:buNone/>
            </a:pPr>
            <a:r>
              <a:rPr lang="en-US" sz="1500" b="1" dirty="0">
                <a:solidFill>
                  <a:srgbClr val="1E6B4A"/>
                </a:solidFill>
                <a:latin typeface="Cambria" pitchFamily="34" charset="0"/>
                <a:ea typeface="Cambria" pitchFamily="34" charset="-122"/>
                <a:cs typeface="Cambria" pitchFamily="34" charset="-120"/>
              </a:rPr>
              <a:t>R&amp;D Manager</a:t>
            </a:r>
            <a:endParaRPr lang="en-US" sz="1500" dirty="0"/>
          </a:p>
        </p:txBody>
      </p:sp>
      <p:sp>
        <p:nvSpPr>
          <p:cNvPr id="9" name="Text 7"/>
          <p:cNvSpPr txBox="1"/>
          <p:nvPr/>
        </p:nvSpPr>
        <p:spPr>
          <a:xfrm>
            <a:off x="3447288" y="2807208"/>
            <a:ext cx="7763256" cy="56692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Put one live trial into PD end to end. It is the fastest way for everyone else to see what a good record looks like.</a:t>
            </a:r>
            <a:endParaRPr lang="en-US" sz="1300" dirty="0"/>
          </a:p>
        </p:txBody>
      </p:sp>
      <p:sp>
        <p:nvSpPr>
          <p:cNvPr id="10" name="Shape 8"/>
          <p:cNvSpPr/>
          <p:nvPr/>
        </p:nvSpPr>
        <p:spPr>
          <a:xfrm>
            <a:off x="658368" y="3410712"/>
            <a:ext cx="10844784" cy="658368"/>
          </a:xfrm>
          <a:prstGeom prst="rect">
            <a:avLst/>
          </a:prstGeom>
          <a:solidFill>
            <a:srgbClr val="F3F6F4"/>
          </a:solidFill>
          <a:ln w="12700">
            <a:solidFill>
              <a:srgbClr val="F3F6F4"/>
            </a:solidFill>
            <a:prstDash val="solid"/>
          </a:ln>
        </p:spPr>
      </p:sp>
      <p:sp>
        <p:nvSpPr>
          <p:cNvPr id="11" name="Text 9"/>
          <p:cNvSpPr txBox="1"/>
          <p:nvPr/>
        </p:nvSpPr>
        <p:spPr>
          <a:xfrm>
            <a:off x="896112" y="3511296"/>
            <a:ext cx="2423160" cy="457200"/>
          </a:xfrm>
          <a:prstGeom prst="rect">
            <a:avLst/>
          </a:prstGeom>
          <a:noFill/>
          <a:ln/>
        </p:spPr>
        <p:txBody>
          <a:bodyPr wrap="square" lIns="0" tIns="0" rIns="0" bIns="0" rtlCol="0" anchor="t"/>
          <a:lstStyle/>
          <a:p>
            <a:pPr indent="0" marL="0">
              <a:buNone/>
            </a:pPr>
            <a:r>
              <a:rPr lang="en-US" sz="1500" b="1" dirty="0">
                <a:solidFill>
                  <a:srgbClr val="1E6B4A"/>
                </a:solidFill>
                <a:latin typeface="Cambria" pitchFamily="34" charset="0"/>
                <a:ea typeface="Cambria" pitchFamily="34" charset="-122"/>
                <a:cs typeface="Cambria" pitchFamily="34" charset="-120"/>
              </a:rPr>
              <a:t>Lead Agronomist</a:t>
            </a:r>
            <a:endParaRPr lang="en-US" sz="1500" dirty="0"/>
          </a:p>
        </p:txBody>
      </p:sp>
      <p:sp>
        <p:nvSpPr>
          <p:cNvPr id="12" name="Text 10"/>
          <p:cNvSpPr txBox="1"/>
          <p:nvPr/>
        </p:nvSpPr>
        <p:spPr>
          <a:xfrm>
            <a:off x="3447288" y="3493008"/>
            <a:ext cx="7763256" cy="56692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Register the field problems you are already carrying, and write one Question under each.</a:t>
            </a:r>
            <a:endParaRPr lang="en-US" sz="1300" dirty="0"/>
          </a:p>
        </p:txBody>
      </p:sp>
      <p:sp>
        <p:nvSpPr>
          <p:cNvPr id="13" name="Text 11"/>
          <p:cNvSpPr txBox="1"/>
          <p:nvPr/>
        </p:nvSpPr>
        <p:spPr>
          <a:xfrm>
            <a:off x="896112" y="4197096"/>
            <a:ext cx="2423160" cy="457200"/>
          </a:xfrm>
          <a:prstGeom prst="rect">
            <a:avLst/>
          </a:prstGeom>
          <a:noFill/>
          <a:ln/>
        </p:spPr>
        <p:txBody>
          <a:bodyPr wrap="square" lIns="0" tIns="0" rIns="0" bIns="0" rtlCol="0" anchor="t"/>
          <a:lstStyle/>
          <a:p>
            <a:pPr indent="0" marL="0">
              <a:buNone/>
            </a:pPr>
            <a:r>
              <a:rPr lang="en-US" sz="1500" b="1" dirty="0">
                <a:solidFill>
                  <a:srgbClr val="1E6B4A"/>
                </a:solidFill>
                <a:latin typeface="Cambria" pitchFamily="34" charset="0"/>
                <a:ea typeface="Cambria" pitchFamily="34" charset="-122"/>
                <a:cs typeface="Cambria" pitchFamily="34" charset="-120"/>
              </a:rPr>
              <a:t>Validation agronomist</a:t>
            </a:r>
            <a:endParaRPr lang="en-US" sz="1500" dirty="0"/>
          </a:p>
        </p:txBody>
      </p:sp>
      <p:sp>
        <p:nvSpPr>
          <p:cNvPr id="14" name="Text 12"/>
          <p:cNvSpPr txBox="1"/>
          <p:nvPr/>
        </p:nvSpPr>
        <p:spPr>
          <a:xfrm>
            <a:off x="3447288" y="4178808"/>
            <a:ext cx="7763256" cy="56692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When you disagree with something on the record, write a Claim that challenges it. That is not a complaint — it is the mechanism working.</a:t>
            </a:r>
            <a:endParaRPr lang="en-US" sz="1300" dirty="0"/>
          </a:p>
        </p:txBody>
      </p:sp>
      <p:sp>
        <p:nvSpPr>
          <p:cNvPr id="15" name="Shape 13"/>
          <p:cNvSpPr/>
          <p:nvPr/>
        </p:nvSpPr>
        <p:spPr>
          <a:xfrm>
            <a:off x="658368" y="4782312"/>
            <a:ext cx="10844784" cy="658368"/>
          </a:xfrm>
          <a:prstGeom prst="rect">
            <a:avLst/>
          </a:prstGeom>
          <a:solidFill>
            <a:srgbClr val="F3F6F4"/>
          </a:solidFill>
          <a:ln w="12700">
            <a:solidFill>
              <a:srgbClr val="F3F6F4"/>
            </a:solidFill>
            <a:prstDash val="solid"/>
          </a:ln>
        </p:spPr>
      </p:sp>
      <p:sp>
        <p:nvSpPr>
          <p:cNvPr id="16" name="Text 14"/>
          <p:cNvSpPr txBox="1"/>
          <p:nvPr/>
        </p:nvSpPr>
        <p:spPr>
          <a:xfrm>
            <a:off x="896112" y="4882896"/>
            <a:ext cx="2423160" cy="457200"/>
          </a:xfrm>
          <a:prstGeom prst="rect">
            <a:avLst/>
          </a:prstGeom>
          <a:noFill/>
          <a:ln/>
        </p:spPr>
        <p:txBody>
          <a:bodyPr wrap="square" lIns="0" tIns="0" rIns="0" bIns="0" rtlCol="0" anchor="t"/>
          <a:lstStyle/>
          <a:p>
            <a:pPr indent="0" marL="0">
              <a:buNone/>
            </a:pPr>
            <a:r>
              <a:rPr lang="en-US" sz="1500" b="1" dirty="0">
                <a:solidFill>
                  <a:srgbClr val="1E6B4A"/>
                </a:solidFill>
                <a:latin typeface="Cambria" pitchFamily="34" charset="0"/>
                <a:ea typeface="Cambria" pitchFamily="34" charset="-122"/>
                <a:cs typeface="Cambria" pitchFamily="34" charset="-120"/>
              </a:rPr>
              <a:t>Plant Manager</a:t>
            </a:r>
            <a:endParaRPr lang="en-US" sz="1500" dirty="0"/>
          </a:p>
        </p:txBody>
      </p:sp>
      <p:sp>
        <p:nvSpPr>
          <p:cNvPr id="17" name="Text 15"/>
          <p:cNvSpPr txBox="1"/>
          <p:nvPr/>
        </p:nvSpPr>
        <p:spPr>
          <a:xfrm>
            <a:off x="3447288" y="4864608"/>
            <a:ext cx="7763256" cy="56692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Anything that reaches you from production or a dealer goes through the door in one minute.</a:t>
            </a:r>
            <a:endParaRPr lang="en-US" sz="1300" dirty="0"/>
          </a:p>
        </p:txBody>
      </p:sp>
      <p:sp>
        <p:nvSpPr>
          <p:cNvPr id="18" name="Text 16"/>
          <p:cNvSpPr txBox="1"/>
          <p:nvPr/>
        </p:nvSpPr>
        <p:spPr>
          <a:xfrm>
            <a:off x="896112" y="5568696"/>
            <a:ext cx="2423160" cy="457200"/>
          </a:xfrm>
          <a:prstGeom prst="rect">
            <a:avLst/>
          </a:prstGeom>
          <a:noFill/>
          <a:ln/>
        </p:spPr>
        <p:txBody>
          <a:bodyPr wrap="square" lIns="0" tIns="0" rIns="0" bIns="0" rtlCol="0" anchor="t"/>
          <a:lstStyle/>
          <a:p>
            <a:pPr indent="0" marL="0">
              <a:buNone/>
            </a:pPr>
            <a:r>
              <a:rPr lang="en-US" sz="1500" b="1" dirty="0">
                <a:solidFill>
                  <a:srgbClr val="1E6B4A"/>
                </a:solidFill>
                <a:latin typeface="Cambria" pitchFamily="34" charset="0"/>
                <a:ea typeface="Cambria" pitchFamily="34" charset="-122"/>
                <a:cs typeface="Cambria" pitchFamily="34" charset="-120"/>
              </a:rPr>
              <a:t>Data Custodian</a:t>
            </a:r>
            <a:endParaRPr lang="en-US" sz="1500" dirty="0"/>
          </a:p>
        </p:txBody>
      </p:sp>
      <p:sp>
        <p:nvSpPr>
          <p:cNvPr id="19" name="Text 17"/>
          <p:cNvSpPr txBox="1"/>
          <p:nvPr/>
        </p:nvSpPr>
        <p:spPr>
          <a:xfrm>
            <a:off x="3447288" y="5550408"/>
            <a:ext cx="7763256" cy="566928"/>
          </a:xfrm>
          <a:prstGeom prst="rect">
            <a:avLst/>
          </a:prstGeom>
          <a:noFill/>
          <a:ln/>
        </p:spPr>
        <p:txBody>
          <a:bodyPr wrap="square" lIns="0" tIns="0" rIns="0" bIns="0" rtlCol="0" anchor="t"/>
          <a:lstStyle/>
          <a:p>
            <a:pPr indent="0" marL="0">
              <a:buNone/>
            </a:pPr>
            <a:r>
              <a:rPr lang="en-US" sz="1300" dirty="0">
                <a:solidFill>
                  <a:srgbClr val="48544E"/>
                </a:solidFill>
                <a:latin typeface="Calibri" pitchFamily="34" charset="0"/>
                <a:ea typeface="Calibri" pitchFamily="34" charset="-122"/>
                <a:cs typeface="Calibri" pitchFamily="34" charset="-120"/>
              </a:rPr>
              <a:t>File what comes in — give each entry a Problem and an owner; it takes both. Nothing arriving from outside moves until that happens.</a:t>
            </a:r>
            <a:endParaRPr lang="en-US" sz="1300" dirty="0"/>
          </a:p>
        </p:txBody>
      </p:sp>
      <p:sp>
        <p:nvSpPr>
          <p:cNvPr id="20" name="Text 18"/>
          <p:cNvSpPr txBox="1"/>
          <p:nvPr/>
        </p:nvSpPr>
        <p:spPr>
          <a:xfrm>
            <a:off x="896112" y="6016752"/>
            <a:ext cx="10607040" cy="365760"/>
          </a:xfrm>
          <a:prstGeom prst="rect">
            <a:avLst/>
          </a:prstGeom>
          <a:noFill/>
          <a:ln/>
        </p:spPr>
        <p:txBody>
          <a:bodyPr wrap="square" lIns="0" tIns="0" rIns="0" bIns="0" rtlCol="0" anchor="ctr"/>
          <a:lstStyle/>
          <a:p>
            <a:pPr indent="0" marL="0">
              <a:buNone/>
            </a:pPr>
            <a:r>
              <a:rPr lang="en-US" sz="1400" i="1" dirty="0">
                <a:solidFill>
                  <a:srgbClr val="7B8781"/>
                </a:solidFill>
                <a:latin typeface="Calibri" pitchFamily="34" charset="0"/>
                <a:ea typeface="Calibri" pitchFamily="34" charset="-122"/>
                <a:cs typeface="Calibri" pitchFamily="34" charset="-120"/>
              </a:rPr>
              <a:t>Nobody needs to use all of it. Two Problems, properly recorded, is a successful first fortnight.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2B1C"/>
        </a:solidFill>
      </p:bgPr>
    </p:bg>
    <p:spTree>
      <p:nvGrpSpPr>
        <p:cNvPr id="1" name=""/>
        <p:cNvGrpSpPr/>
        <p:nvPr/>
      </p:nvGrpSpPr>
      <p:grpSpPr>
        <a:xfrm>
          <a:off x="0" y="0"/>
          <a:ext cx="0" cy="0"/>
          <a:chOff x="0" y="0"/>
          <a:chExt cx="0" cy="0"/>
        </a:xfrm>
      </p:grpSpPr>
      <p:sp>
        <p:nvSpPr>
          <p:cNvPr id="2" name="Text 0"/>
          <p:cNvSpPr txBox="1"/>
          <p:nvPr/>
        </p:nvSpPr>
        <p:spPr>
          <a:xfrm>
            <a:off x="658368" y="420624"/>
            <a:ext cx="7315200" cy="256032"/>
          </a:xfrm>
          <a:prstGeom prst="rect">
            <a:avLst/>
          </a:prstGeom>
          <a:noFill/>
          <a:ln/>
        </p:spPr>
        <p:txBody>
          <a:bodyPr wrap="square" lIns="0" tIns="0" rIns="0" bIns="0" rtlCol="0" anchor="ctr"/>
          <a:lstStyle/>
          <a:p>
            <a:pPr algn="l" indent="0" marL="0">
              <a:buNone/>
            </a:pPr>
            <a:r>
              <a:rPr lang="en-US" sz="1100" b="1" spc="240" kern="0" dirty="0">
                <a:solidFill>
                  <a:srgbClr val="7FBFA0"/>
                </a:solidFill>
                <a:latin typeface="Calibri" pitchFamily="34" charset="0"/>
                <a:ea typeface="Calibri" pitchFamily="34" charset="-122"/>
                <a:cs typeface="Calibri" pitchFamily="34" charset="-120"/>
              </a:rPr>
              <a:t>NEVER</a:t>
            </a:r>
            <a:endParaRPr lang="en-US" sz="1100" dirty="0"/>
          </a:p>
        </p:txBody>
      </p:sp>
      <p:sp>
        <p:nvSpPr>
          <p:cNvPr id="3" name="Text 1"/>
          <p:cNvSpPr txBox="1"/>
          <p:nvPr/>
        </p:nvSpPr>
        <p:spPr>
          <a:xfrm>
            <a:off x="658368" y="749808"/>
            <a:ext cx="1083564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Things this system will not do to you</a:t>
            </a:r>
            <a:endParaRPr lang="en-US" sz="3600" dirty="0"/>
          </a:p>
        </p:txBody>
      </p:sp>
      <p:sp>
        <p:nvSpPr>
          <p:cNvPr id="4" name="Shape 2"/>
          <p:cNvSpPr/>
          <p:nvPr/>
        </p:nvSpPr>
        <p:spPr>
          <a:xfrm>
            <a:off x="658368" y="1892808"/>
            <a:ext cx="384048" cy="384048"/>
          </a:xfrm>
          <a:prstGeom prst="ellipse">
            <a:avLst/>
          </a:prstGeom>
          <a:solidFill>
            <a:srgbClr val="A9701A"/>
          </a:solidFill>
          <a:ln w="12700">
            <a:solidFill>
              <a:srgbClr val="A9701A"/>
            </a:solidFill>
            <a:prstDash val="solid"/>
          </a:ln>
        </p:spPr>
      </p:sp>
      <p:sp>
        <p:nvSpPr>
          <p:cNvPr id="5" name="Text 3"/>
          <p:cNvSpPr txBox="1"/>
          <p:nvPr/>
        </p:nvSpPr>
        <p:spPr>
          <a:xfrm>
            <a:off x="658368" y="1892808"/>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a:t>
            </a:r>
            <a:endParaRPr lang="en-US" sz="1300" dirty="0"/>
          </a:p>
        </p:txBody>
      </p:sp>
      <p:sp>
        <p:nvSpPr>
          <p:cNvPr id="6" name="Text 4"/>
          <p:cNvSpPr txBox="1"/>
          <p:nvPr/>
        </p:nvSpPr>
        <p:spPr>
          <a:xfrm>
            <a:off x="1225296" y="1856232"/>
            <a:ext cx="3200400" cy="41148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Nobody is corrected.</a:t>
            </a:r>
            <a:endParaRPr lang="en-US" sz="1600" dirty="0"/>
          </a:p>
        </p:txBody>
      </p:sp>
      <p:sp>
        <p:nvSpPr>
          <p:cNvPr id="7" name="Text 5"/>
          <p:cNvSpPr txBox="1"/>
          <p:nvPr/>
        </p:nvSpPr>
        <p:spPr>
          <a:xfrm>
            <a:off x="4544568" y="1856232"/>
            <a:ext cx="6949440" cy="731520"/>
          </a:xfrm>
          <a:prstGeom prst="rect">
            <a:avLst/>
          </a:prstGeom>
          <a:noFill/>
          <a:ln/>
        </p:spPr>
        <p:txBody>
          <a:bodyPr wrap="square" lIns="0" tIns="0" rIns="0" bIns="0" rtlCol="0" anchor="t"/>
          <a:lstStyle/>
          <a:p>
            <a:pPr indent="0" marL="0">
              <a:buNone/>
            </a:pPr>
            <a:r>
              <a:rPr lang="en-US" sz="1250" dirty="0">
                <a:solidFill>
                  <a:srgbClr val="A9C4B4"/>
                </a:solidFill>
                <a:latin typeface="Calibri" pitchFamily="34" charset="0"/>
                <a:ea typeface="Calibri" pitchFamily="34" charset="-122"/>
                <a:cs typeface="Calibri" pitchFamily="34" charset="-120"/>
              </a:rPr>
              <a:t>When your entry is filed under a different heading, the record says it was refiled. Eleven words — wrong, incorrect, mistake and eight more — appear nowhere a person can read them, and an automated sweep over every screen checks it on every build.</a:t>
            </a:r>
            <a:endParaRPr lang="en-US" sz="1250" dirty="0"/>
          </a:p>
        </p:txBody>
      </p:sp>
      <p:sp>
        <p:nvSpPr>
          <p:cNvPr id="8" name="Shape 6"/>
          <p:cNvSpPr/>
          <p:nvPr/>
        </p:nvSpPr>
        <p:spPr>
          <a:xfrm>
            <a:off x="658368" y="2761488"/>
            <a:ext cx="384048" cy="384048"/>
          </a:xfrm>
          <a:prstGeom prst="ellipse">
            <a:avLst/>
          </a:prstGeom>
          <a:solidFill>
            <a:srgbClr val="A9701A"/>
          </a:solidFill>
          <a:ln w="12700">
            <a:solidFill>
              <a:srgbClr val="A9701A"/>
            </a:solidFill>
            <a:prstDash val="solid"/>
          </a:ln>
        </p:spPr>
      </p:sp>
      <p:sp>
        <p:nvSpPr>
          <p:cNvPr id="9" name="Text 7"/>
          <p:cNvSpPr txBox="1"/>
          <p:nvPr/>
        </p:nvSpPr>
        <p:spPr>
          <a:xfrm>
            <a:off x="658368" y="2761488"/>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a:t>
            </a:r>
            <a:endParaRPr lang="en-US" sz="1300" dirty="0"/>
          </a:p>
        </p:txBody>
      </p:sp>
      <p:sp>
        <p:nvSpPr>
          <p:cNvPr id="10" name="Text 8"/>
          <p:cNvSpPr txBox="1"/>
          <p:nvPr/>
        </p:nvSpPr>
        <p:spPr>
          <a:xfrm>
            <a:off x="1225296" y="2724912"/>
            <a:ext cx="3200400" cy="41148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Nothing you wrote is deleted.</a:t>
            </a:r>
            <a:endParaRPr lang="en-US" sz="1600" dirty="0"/>
          </a:p>
        </p:txBody>
      </p:sp>
      <p:sp>
        <p:nvSpPr>
          <p:cNvPr id="11" name="Text 9"/>
          <p:cNvSpPr txBox="1"/>
          <p:nvPr/>
        </p:nvSpPr>
        <p:spPr>
          <a:xfrm>
            <a:off x="4544568" y="2724912"/>
            <a:ext cx="6949440" cy="731520"/>
          </a:xfrm>
          <a:prstGeom prst="rect">
            <a:avLst/>
          </a:prstGeom>
          <a:noFill/>
          <a:ln/>
        </p:spPr>
        <p:txBody>
          <a:bodyPr wrap="square" lIns="0" tIns="0" rIns="0" bIns="0" rtlCol="0" anchor="t"/>
          <a:lstStyle/>
          <a:p>
            <a:pPr indent="0" marL="0">
              <a:buNone/>
            </a:pPr>
            <a:r>
              <a:rPr lang="en-US" sz="1250" dirty="0">
                <a:solidFill>
                  <a:srgbClr val="A9C4B4"/>
                </a:solidFill>
                <a:latin typeface="Calibri" pitchFamily="34" charset="0"/>
                <a:ea typeface="Calibri" pitchFamily="34" charset="-122"/>
                <a:cs typeface="Calibri" pitchFamily="34" charset="-120"/>
              </a:rPr>
              <a:t>Every edit is kept as a snapshot underneath. The current version is what people read; the earlier versions are still there.</a:t>
            </a:r>
            <a:endParaRPr lang="en-US" sz="1250" dirty="0"/>
          </a:p>
        </p:txBody>
      </p:sp>
      <p:sp>
        <p:nvSpPr>
          <p:cNvPr id="12" name="Shape 10"/>
          <p:cNvSpPr/>
          <p:nvPr/>
        </p:nvSpPr>
        <p:spPr>
          <a:xfrm>
            <a:off x="658368" y="3630168"/>
            <a:ext cx="384048" cy="384048"/>
          </a:xfrm>
          <a:prstGeom prst="ellipse">
            <a:avLst/>
          </a:prstGeom>
          <a:solidFill>
            <a:srgbClr val="A9701A"/>
          </a:solidFill>
          <a:ln w="12700">
            <a:solidFill>
              <a:srgbClr val="A9701A"/>
            </a:solidFill>
            <a:prstDash val="solid"/>
          </a:ln>
        </p:spPr>
      </p:sp>
      <p:sp>
        <p:nvSpPr>
          <p:cNvPr id="13" name="Text 11"/>
          <p:cNvSpPr txBox="1"/>
          <p:nvPr/>
        </p:nvSpPr>
        <p:spPr>
          <a:xfrm>
            <a:off x="658368" y="3630168"/>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a:t>
            </a:r>
            <a:endParaRPr lang="en-US" sz="1300" dirty="0"/>
          </a:p>
        </p:txBody>
      </p:sp>
      <p:sp>
        <p:nvSpPr>
          <p:cNvPr id="14" name="Text 12"/>
          <p:cNvSpPr txBox="1"/>
          <p:nvPr/>
        </p:nvSpPr>
        <p:spPr>
          <a:xfrm>
            <a:off x="1225296" y="3593592"/>
            <a:ext cx="3200400" cy="41148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Your work stays yours.</a:t>
            </a:r>
            <a:endParaRPr lang="en-US" sz="1600" dirty="0"/>
          </a:p>
        </p:txBody>
      </p:sp>
      <p:sp>
        <p:nvSpPr>
          <p:cNvPr id="15" name="Text 13"/>
          <p:cNvSpPr txBox="1"/>
          <p:nvPr/>
        </p:nvSpPr>
        <p:spPr>
          <a:xfrm>
            <a:off x="4544568" y="3593592"/>
            <a:ext cx="6949440" cy="731520"/>
          </a:xfrm>
          <a:prstGeom prst="rect">
            <a:avLst/>
          </a:prstGeom>
          <a:noFill/>
          <a:ln/>
        </p:spPr>
        <p:txBody>
          <a:bodyPr wrap="square" lIns="0" tIns="0" rIns="0" bIns="0" rtlCol="0" anchor="t"/>
          <a:lstStyle/>
          <a:p>
            <a:pPr indent="0" marL="0">
              <a:buNone/>
            </a:pPr>
            <a:r>
              <a:rPr lang="en-US" sz="1250" dirty="0">
                <a:solidFill>
                  <a:srgbClr val="A9C4B4"/>
                </a:solidFill>
                <a:latin typeface="Calibri" pitchFamily="34" charset="0"/>
                <a:ea typeface="Calibri" pitchFamily="34" charset="-122"/>
                <a:cs typeface="Calibri" pitchFamily="34" charset="-120"/>
              </a:rPr>
              <a:t>However many times an entry is refiled, the author never changes.</a:t>
            </a:r>
            <a:endParaRPr lang="en-US" sz="1250" dirty="0"/>
          </a:p>
        </p:txBody>
      </p:sp>
      <p:sp>
        <p:nvSpPr>
          <p:cNvPr id="16" name="Shape 14"/>
          <p:cNvSpPr/>
          <p:nvPr/>
        </p:nvSpPr>
        <p:spPr>
          <a:xfrm>
            <a:off x="658368" y="4498848"/>
            <a:ext cx="384048" cy="384048"/>
          </a:xfrm>
          <a:prstGeom prst="ellipse">
            <a:avLst/>
          </a:prstGeom>
          <a:solidFill>
            <a:srgbClr val="A9701A"/>
          </a:solidFill>
          <a:ln w="12700">
            <a:solidFill>
              <a:srgbClr val="A9701A"/>
            </a:solidFill>
            <a:prstDash val="solid"/>
          </a:ln>
        </p:spPr>
      </p:sp>
      <p:sp>
        <p:nvSpPr>
          <p:cNvPr id="17" name="Text 15"/>
          <p:cNvSpPr txBox="1"/>
          <p:nvPr/>
        </p:nvSpPr>
        <p:spPr>
          <a:xfrm>
            <a:off x="658368" y="4498848"/>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a:t>
            </a:r>
            <a:endParaRPr lang="en-US" sz="1300" dirty="0"/>
          </a:p>
        </p:txBody>
      </p:sp>
      <p:sp>
        <p:nvSpPr>
          <p:cNvPr id="18" name="Text 16"/>
          <p:cNvSpPr txBox="1"/>
          <p:nvPr/>
        </p:nvSpPr>
        <p:spPr>
          <a:xfrm>
            <a:off x="1225296" y="4462272"/>
            <a:ext cx="3200400" cy="41148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Nobody can be counted.</a:t>
            </a:r>
            <a:endParaRPr lang="en-US" sz="1600" dirty="0"/>
          </a:p>
        </p:txBody>
      </p:sp>
      <p:sp>
        <p:nvSpPr>
          <p:cNvPr id="19" name="Text 17"/>
          <p:cNvSpPr txBox="1"/>
          <p:nvPr/>
        </p:nvSpPr>
        <p:spPr>
          <a:xfrm>
            <a:off x="4544568" y="4462272"/>
            <a:ext cx="6949440" cy="731520"/>
          </a:xfrm>
          <a:prstGeom prst="rect">
            <a:avLst/>
          </a:prstGeom>
          <a:noFill/>
          <a:ln/>
        </p:spPr>
        <p:txBody>
          <a:bodyPr wrap="square" lIns="0" tIns="0" rIns="0" bIns="0" rtlCol="0" anchor="t"/>
          <a:lstStyle/>
          <a:p>
            <a:pPr indent="0" marL="0">
              <a:buNone/>
            </a:pPr>
            <a:r>
              <a:rPr lang="en-US" sz="1250" dirty="0">
                <a:solidFill>
                  <a:srgbClr val="A9C4B4"/>
                </a:solidFill>
                <a:latin typeface="Calibri" pitchFamily="34" charset="0"/>
                <a:ea typeface="Calibri" pitchFamily="34" charset="-122"/>
                <a:cs typeface="Calibri" pitchFamily="34" charset="-120"/>
              </a:rPr>
              <a:t>No screen shows a per-person refiling count, and no screen may group the history by person. That is a rule written into the schema, not an omission.</a:t>
            </a:r>
            <a:endParaRPr lang="en-US" sz="1250" dirty="0"/>
          </a:p>
        </p:txBody>
      </p:sp>
      <p:sp>
        <p:nvSpPr>
          <p:cNvPr id="20" name="Shape 18"/>
          <p:cNvSpPr/>
          <p:nvPr/>
        </p:nvSpPr>
        <p:spPr>
          <a:xfrm>
            <a:off x="658368" y="5367528"/>
            <a:ext cx="384048" cy="384048"/>
          </a:xfrm>
          <a:prstGeom prst="ellipse">
            <a:avLst/>
          </a:prstGeom>
          <a:solidFill>
            <a:srgbClr val="A9701A"/>
          </a:solidFill>
          <a:ln w="12700">
            <a:solidFill>
              <a:srgbClr val="A9701A"/>
            </a:solidFill>
            <a:prstDash val="solid"/>
          </a:ln>
        </p:spPr>
      </p:sp>
      <p:sp>
        <p:nvSpPr>
          <p:cNvPr id="21" name="Text 19"/>
          <p:cNvSpPr txBox="1"/>
          <p:nvPr/>
        </p:nvSpPr>
        <p:spPr>
          <a:xfrm>
            <a:off x="658368" y="5367528"/>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a:t>
            </a:r>
            <a:endParaRPr lang="en-US" sz="1300" dirty="0"/>
          </a:p>
        </p:txBody>
      </p:sp>
      <p:sp>
        <p:nvSpPr>
          <p:cNvPr id="22" name="Text 20"/>
          <p:cNvSpPr txBox="1"/>
          <p:nvPr/>
        </p:nvSpPr>
        <p:spPr>
          <a:xfrm>
            <a:off x="1225296" y="5330952"/>
            <a:ext cx="3200400" cy="41148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A killed Bet is a result.</a:t>
            </a:r>
            <a:endParaRPr lang="en-US" sz="1600" dirty="0"/>
          </a:p>
        </p:txBody>
      </p:sp>
      <p:sp>
        <p:nvSpPr>
          <p:cNvPr id="23" name="Text 21"/>
          <p:cNvSpPr txBox="1"/>
          <p:nvPr/>
        </p:nvSpPr>
        <p:spPr>
          <a:xfrm>
            <a:off x="4544568" y="5330952"/>
            <a:ext cx="6949440" cy="731520"/>
          </a:xfrm>
          <a:prstGeom prst="rect">
            <a:avLst/>
          </a:prstGeom>
          <a:noFill/>
          <a:ln/>
        </p:spPr>
        <p:txBody>
          <a:bodyPr wrap="square" lIns="0" tIns="0" rIns="0" bIns="0" rtlCol="0" anchor="t"/>
          <a:lstStyle/>
          <a:p>
            <a:pPr indent="0" marL="0">
              <a:buNone/>
            </a:pPr>
            <a:r>
              <a:rPr lang="en-US" sz="1250" dirty="0">
                <a:solidFill>
                  <a:srgbClr val="A9C4B4"/>
                </a:solidFill>
                <a:latin typeface="Calibri" pitchFamily="34" charset="0"/>
                <a:ea typeface="Calibri" pitchFamily="34" charset="-122"/>
                <a:cs typeface="Calibri" pitchFamily="34" charset="-120"/>
              </a:rPr>
              <a:t>Two of the three Bets in our worked case were killed. That case is the best record in the system.</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2B1C"/>
        </a:solidFill>
      </p:bgPr>
    </p:bg>
    <p:spTree>
      <p:nvGrpSpPr>
        <p:cNvPr id="1" name=""/>
        <p:cNvGrpSpPr/>
        <p:nvPr/>
      </p:nvGrpSpPr>
      <p:grpSpPr>
        <a:xfrm>
          <a:off x="0" y="0"/>
          <a:ext cx="0" cy="0"/>
          <a:chOff x="0" y="0"/>
          <a:chExt cx="0" cy="0"/>
        </a:xfrm>
      </p:grpSpPr>
      <p:sp>
        <p:nvSpPr>
          <p:cNvPr id="2" name="Text 0"/>
          <p:cNvSpPr txBox="1"/>
          <p:nvPr/>
        </p:nvSpPr>
        <p:spPr>
          <a:xfrm>
            <a:off x="658368" y="1051560"/>
            <a:ext cx="10058400" cy="457200"/>
          </a:xfrm>
          <a:prstGeom prst="rect">
            <a:avLst/>
          </a:prstGeom>
          <a:noFill/>
          <a:ln/>
        </p:spPr>
        <p:txBody>
          <a:bodyPr wrap="square" lIns="0" tIns="0" rIns="0" bIns="0" rtlCol="0" anchor="ctr"/>
          <a:lstStyle/>
          <a:p>
            <a:pPr indent="0" marL="0">
              <a:buNone/>
            </a:pPr>
            <a:r>
              <a:rPr lang="en-US" sz="1400" b="1" spc="240" kern="0" dirty="0">
                <a:solidFill>
                  <a:srgbClr val="7FBFA0"/>
                </a:solidFill>
                <a:latin typeface="Calibri" pitchFamily="34" charset="0"/>
                <a:ea typeface="Calibri" pitchFamily="34" charset="-122"/>
                <a:cs typeface="Calibri" pitchFamily="34" charset="-120"/>
              </a:rPr>
              <a:t>If you only remember two things</a:t>
            </a:r>
            <a:endParaRPr lang="en-US" sz="1400" dirty="0"/>
          </a:p>
        </p:txBody>
      </p:sp>
      <p:sp>
        <p:nvSpPr>
          <p:cNvPr id="3" name="Shape 1"/>
          <p:cNvSpPr/>
          <p:nvPr/>
        </p:nvSpPr>
        <p:spPr>
          <a:xfrm>
            <a:off x="658368" y="1783080"/>
            <a:ext cx="384048" cy="384048"/>
          </a:xfrm>
          <a:prstGeom prst="ellipse">
            <a:avLst/>
          </a:prstGeom>
          <a:solidFill>
            <a:srgbClr val="A9701A"/>
          </a:solidFill>
          <a:ln w="12700">
            <a:solidFill>
              <a:srgbClr val="A9701A"/>
            </a:solidFill>
            <a:prstDash val="solid"/>
          </a:ln>
        </p:spPr>
      </p:sp>
      <p:sp>
        <p:nvSpPr>
          <p:cNvPr id="4" name="Text 2"/>
          <p:cNvSpPr txBox="1"/>
          <p:nvPr/>
        </p:nvSpPr>
        <p:spPr>
          <a:xfrm>
            <a:off x="658368" y="1783080"/>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1</a:t>
            </a:r>
            <a:endParaRPr lang="en-US" sz="1300" dirty="0"/>
          </a:p>
        </p:txBody>
      </p:sp>
      <p:sp>
        <p:nvSpPr>
          <p:cNvPr id="5" name="Text 3"/>
          <p:cNvSpPr txBox="1"/>
          <p:nvPr/>
        </p:nvSpPr>
        <p:spPr>
          <a:xfrm>
            <a:off x="658368" y="2359152"/>
            <a:ext cx="5285232" cy="2011680"/>
          </a:xfrm>
          <a:prstGeom prst="rect">
            <a:avLst/>
          </a:prstGeom>
          <a:noFill/>
          <a:ln/>
        </p:spPr>
        <p:txBody>
          <a:bodyPr wrap="square" lIns="0" tIns="0" rIns="0" bIns="0" rtlCol="0" anchor="t"/>
          <a:lstStyle/>
          <a:p>
            <a:pPr indent="0" marL="0">
              <a:lnSpc>
                <a:spcPts val="4000"/>
              </a:lnSpc>
              <a:buNone/>
            </a:pPr>
            <a:r>
              <a:rPr lang="en-US" sz="2800" dirty="0">
                <a:solidFill>
                  <a:srgbClr val="FFFFFF"/>
                </a:solidFill>
                <a:latin typeface="Cambria" pitchFamily="34" charset="0"/>
                <a:ea typeface="Cambria" pitchFamily="34" charset="-122"/>
                <a:cs typeface="Cambria" pitchFamily="34" charset="-120"/>
              </a:rPr>
              <a:t>Nothing gets made until we have written the question it answers.</a:t>
            </a:r>
            <a:endParaRPr lang="en-US" sz="2800" dirty="0"/>
          </a:p>
        </p:txBody>
      </p:sp>
      <p:sp>
        <p:nvSpPr>
          <p:cNvPr id="6" name="Shape 4"/>
          <p:cNvSpPr/>
          <p:nvPr/>
        </p:nvSpPr>
        <p:spPr>
          <a:xfrm>
            <a:off x="6217920" y="1783080"/>
            <a:ext cx="384048" cy="384048"/>
          </a:xfrm>
          <a:prstGeom prst="ellipse">
            <a:avLst/>
          </a:prstGeom>
          <a:solidFill>
            <a:srgbClr val="A9701A"/>
          </a:solidFill>
          <a:ln w="12700">
            <a:solidFill>
              <a:srgbClr val="A9701A"/>
            </a:solidFill>
            <a:prstDash val="solid"/>
          </a:ln>
        </p:spPr>
      </p:sp>
      <p:sp>
        <p:nvSpPr>
          <p:cNvPr id="7" name="Text 5"/>
          <p:cNvSpPr txBox="1"/>
          <p:nvPr/>
        </p:nvSpPr>
        <p:spPr>
          <a:xfrm>
            <a:off x="6217920" y="1783080"/>
            <a:ext cx="384048" cy="384048"/>
          </a:xfrm>
          <a:prstGeom prst="rect">
            <a:avLst/>
          </a:prstGeom>
          <a:noFill/>
          <a:ln/>
        </p:spPr>
        <p:txBody>
          <a:bodyPr wrap="square" lIns="0" tIns="0" rIns="0" bIns="0" rtlCol="0" anchor="ctr"/>
          <a:lstStyle/>
          <a:p>
            <a:pPr algn="ctr" indent="0" marL="0">
              <a:buNone/>
            </a:pPr>
            <a:r>
              <a:rPr lang="en-US" sz="1300" b="1" dirty="0">
                <a:solidFill>
                  <a:srgbClr val="112B1C"/>
                </a:solidFill>
                <a:latin typeface="Calibri" pitchFamily="34" charset="0"/>
                <a:ea typeface="Calibri" pitchFamily="34" charset="-122"/>
                <a:cs typeface="Calibri" pitchFamily="34" charset="-120"/>
              </a:rPr>
              <a:t>2</a:t>
            </a:r>
            <a:endParaRPr lang="en-US" sz="1300" dirty="0"/>
          </a:p>
        </p:txBody>
      </p:sp>
      <p:sp>
        <p:nvSpPr>
          <p:cNvPr id="8" name="Text 6"/>
          <p:cNvSpPr txBox="1"/>
          <p:nvPr/>
        </p:nvSpPr>
        <p:spPr>
          <a:xfrm>
            <a:off x="6217920" y="2359152"/>
            <a:ext cx="5285232" cy="2011680"/>
          </a:xfrm>
          <a:prstGeom prst="rect">
            <a:avLst/>
          </a:prstGeom>
          <a:noFill/>
          <a:ln/>
        </p:spPr>
        <p:txBody>
          <a:bodyPr wrap="square" lIns="0" tIns="0" rIns="0" bIns="0" rtlCol="0" anchor="t"/>
          <a:lstStyle/>
          <a:p>
            <a:pPr indent="0" marL="0">
              <a:lnSpc>
                <a:spcPts val="4000"/>
              </a:lnSpc>
              <a:buNone/>
            </a:pPr>
            <a:r>
              <a:rPr lang="en-US" sz="2800" dirty="0">
                <a:solidFill>
                  <a:srgbClr val="FFFFFF"/>
                </a:solidFill>
                <a:latin typeface="Cambria" pitchFamily="34" charset="0"/>
                <a:ea typeface="Cambria" pitchFamily="34" charset="-122"/>
                <a:cs typeface="Cambria" pitchFamily="34" charset="-120"/>
              </a:rPr>
              <a:t>Nothing gets closed until we have written the result — pass, fail, or parked, and why.</a:t>
            </a:r>
            <a:endParaRPr lang="en-US" sz="2800" dirty="0"/>
          </a:p>
        </p:txBody>
      </p:sp>
      <p:sp>
        <p:nvSpPr>
          <p:cNvPr id="9" name="Shape 7"/>
          <p:cNvSpPr/>
          <p:nvPr/>
        </p:nvSpPr>
        <p:spPr>
          <a:xfrm>
            <a:off x="658368" y="4709160"/>
            <a:ext cx="10844784" cy="18288"/>
          </a:xfrm>
          <a:prstGeom prst="rect">
            <a:avLst/>
          </a:prstGeom>
          <a:solidFill>
            <a:srgbClr val="27553A"/>
          </a:solidFill>
          <a:ln w="12700">
            <a:solidFill>
              <a:srgbClr val="27553A"/>
            </a:solidFill>
            <a:prstDash val="solid"/>
          </a:ln>
        </p:spPr>
      </p:sp>
      <p:sp>
        <p:nvSpPr>
          <p:cNvPr id="10" name="Text 8"/>
          <p:cNvSpPr txBox="1"/>
          <p:nvPr/>
        </p:nvSpPr>
        <p:spPr>
          <a:xfrm>
            <a:off x="658368" y="4983480"/>
            <a:ext cx="10844784" cy="457200"/>
          </a:xfrm>
          <a:prstGeom prst="rect">
            <a:avLst/>
          </a:prstGeom>
          <a:noFill/>
          <a:ln/>
        </p:spPr>
        <p:txBody>
          <a:bodyPr wrap="square" lIns="0" tIns="0" rIns="0" bIns="0" rtlCol="0" anchor="ctr"/>
          <a:lstStyle/>
          <a:p>
            <a:pPr indent="0" marL="0">
              <a:buNone/>
            </a:pPr>
            <a:r>
              <a:rPr lang="en-US" sz="1600" dirty="0">
                <a:solidFill>
                  <a:srgbClr val="C7DBCF"/>
                </a:solidFill>
                <a:latin typeface="Calibri" pitchFamily="34" charset="0"/>
                <a:ea typeface="Calibri" pitchFamily="34" charset="-122"/>
                <a:cs typeface="Calibri" pitchFamily="34" charset="-120"/>
              </a:rPr>
              <a:t>The rest is detail. Everything the software refuses, it refuses because of one of these.</a:t>
            </a:r>
            <a:endParaRPr lang="en-US" sz="1600" dirty="0"/>
          </a:p>
        </p:txBody>
      </p:sp>
      <p:sp>
        <p:nvSpPr>
          <p:cNvPr id="11" name="Text 9"/>
          <p:cNvSpPr txBox="1"/>
          <p:nvPr/>
        </p:nvSpPr>
        <p:spPr>
          <a:xfrm>
            <a:off x="658368" y="6035040"/>
            <a:ext cx="10844784" cy="320040"/>
          </a:xfrm>
          <a:prstGeom prst="rect">
            <a:avLst/>
          </a:prstGeom>
          <a:noFill/>
          <a:ln/>
        </p:spPr>
        <p:txBody>
          <a:bodyPr wrap="square" lIns="0" tIns="0" rIns="0" bIns="0" rtlCol="0" anchor="ctr"/>
          <a:lstStyle/>
          <a:p>
            <a:pPr indent="0" marL="0">
              <a:buNone/>
            </a:pPr>
            <a:r>
              <a:rPr lang="en-US" sz="1100" spc="120" kern="0" dirty="0">
                <a:solidFill>
                  <a:srgbClr val="95AFA1"/>
                </a:solidFill>
                <a:latin typeface="Calibri" pitchFamily="34" charset="0"/>
                <a:ea typeface="Calibri" pitchFamily="34" charset="-122"/>
                <a:cs typeface="Calibri" pitchFamily="34" charset="-120"/>
              </a:rPr>
              <a:t>Vital Agri Nutrients  ·  Product Development  ·  September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 Development</dc:title>
  <dc:subject>PptxGenJS Presentation</dc:subject>
  <dc:creator>Vital Agri Nutrients</dc:creator>
  <cp:lastModifiedBy>Vital Agri Nutrients</cp:lastModifiedBy>
  <cp:revision>1</cp:revision>
  <dcterms:created xsi:type="dcterms:W3CDTF">2026-09-09T21:09:09Z</dcterms:created>
  <dcterms:modified xsi:type="dcterms:W3CDTF">2026-09-09T21:09:09Z</dcterms:modified>
</cp:coreProperties>
</file>